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82" r:id="rId5"/>
    <p:sldId id="258" r:id="rId6"/>
    <p:sldId id="260" r:id="rId7"/>
    <p:sldId id="261" r:id="rId8"/>
    <p:sldId id="283" r:id="rId9"/>
    <p:sldId id="265" r:id="rId10"/>
    <p:sldId id="284" r:id="rId11"/>
    <p:sldId id="285" r:id="rId12"/>
    <p:sldId id="286" r:id="rId13"/>
    <p:sldId id="287" r:id="rId14"/>
    <p:sldId id="288" r:id="rId15"/>
    <p:sldId id="290" r:id="rId16"/>
    <p:sldId id="292" r:id="rId17"/>
    <p:sldId id="291" r:id="rId18"/>
    <p:sldId id="293" r:id="rId19"/>
    <p:sldId id="295" r:id="rId20"/>
    <p:sldId id="294" r:id="rId21"/>
    <p:sldId id="271" r:id="rId22"/>
    <p:sldId id="281" r:id="rId23"/>
  </p:sldIdLst>
  <p:sldSz cx="9144000" cy="5143500" type="screen16x9"/>
  <p:notesSz cx="6858000" cy="9144000"/>
  <p:embeddedFontLst>
    <p:embeddedFont>
      <p:font typeface="文鼎霹靂體" panose="02010609010101010101" charset="-120"/>
      <p:regular r:id="rId25"/>
    </p:embeddedFont>
    <p:embeddedFont>
      <p:font typeface="Broadway" panose="04040905080B02020502" pitchFamily="82" charset="0"/>
      <p:regular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Malgun Gothic" panose="020B0503020000020004" pitchFamily="34" charset="-127"/>
      <p:regular r:id="rId33"/>
      <p:bold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2A0"/>
    <a:srgbClr val="DB2914"/>
    <a:srgbClr val="384340"/>
    <a:srgbClr val="2B2B29"/>
    <a:srgbClr val="2B2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8032" autoAdjust="0"/>
  </p:normalViewPr>
  <p:slideViewPr>
    <p:cSldViewPr>
      <p:cViewPr>
        <p:scale>
          <a:sx n="125" d="100"/>
          <a:sy n="125" d="100"/>
        </p:scale>
        <p:origin x="-1224" y="-5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38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FE69B-4EAF-42DD-894B-72F05C2F9A8E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74476-1250-4ACC-A8DF-307C2F327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5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52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94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079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28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8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99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85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75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93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64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86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rgbClr val="384340"/>
          </a:fgClr>
          <a:bgClr>
            <a:schemeClr val="tx1">
              <a:lumMod val="65000"/>
              <a:lumOff val="3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04AE-8384-4D73-BE7F-1499D02A0134}" type="datetimeFigureOut">
              <a:rPr lang="zh-CN" altLang="en-US" smtClean="0"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8463F-2D0E-4547-8536-5BEEA76E286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8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55926"/>
            <a:ext cx="9159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49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timgsa.baidu.com/timg?image&amp;quality=80&amp;size=b9999_10000&amp;sec=1526748511428&amp;di=f2d99b47272d743d3c47f852816f7f42&amp;imgtype=0&amp;src=http%3A%2F%2Fimgsrc.baidu.com%2Fimage%2Fc0%253Dpixel_huitu%252C0%252C0%252C294%252C40%2Fsign%3D901e3bf248166d222c7a1dd42f5b6c9b%2F5ab5c9ea15ce36d310dc3f0931f33a87e950b12b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4" b="14542"/>
          <a:stretch/>
        </p:blipFill>
        <p:spPr bwMode="auto">
          <a:xfrm>
            <a:off x="0" y="-43199"/>
            <a:ext cx="9144000" cy="2852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流程图: 文档 16"/>
          <p:cNvSpPr/>
          <p:nvPr/>
        </p:nvSpPr>
        <p:spPr>
          <a:xfrm flipH="1" flipV="1">
            <a:off x="0" y="1851670"/>
            <a:ext cx="9144000" cy="3291830"/>
          </a:xfrm>
          <a:prstGeom prst="flowChartDocument">
            <a:avLst/>
          </a:prstGeom>
          <a:solidFill>
            <a:srgbClr val="9C21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/>
          </a:p>
        </p:txBody>
      </p:sp>
      <p:sp>
        <p:nvSpPr>
          <p:cNvPr id="19" name="文本框 13"/>
          <p:cNvSpPr txBox="1">
            <a:spLocks noChangeArrowheads="1"/>
          </p:cNvSpPr>
          <p:nvPr/>
        </p:nvSpPr>
        <p:spPr bwMode="auto">
          <a:xfrm>
            <a:off x="251520" y="3097043"/>
            <a:ext cx="738130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基于的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视频平台</a:t>
            </a:r>
          </a:p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　            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四川大学信息交流与视频共享平台</a:t>
            </a:r>
          </a:p>
        </p:txBody>
      </p:sp>
      <p:sp>
        <p:nvSpPr>
          <p:cNvPr id="20" name="文本框 15"/>
          <p:cNvSpPr txBox="1">
            <a:spLocks noChangeArrowheads="1"/>
          </p:cNvSpPr>
          <p:nvPr/>
        </p:nvSpPr>
        <p:spPr bwMode="auto">
          <a:xfrm>
            <a:off x="5508104" y="4051150"/>
            <a:ext cx="35274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答辩人：白琦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eaLnBrk="1" hangingPunct="1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指导老师：陈虎</a:t>
            </a:r>
          </a:p>
        </p:txBody>
      </p:sp>
      <p:pic>
        <p:nvPicPr>
          <p:cNvPr id="24" name="图片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600" y="986677"/>
            <a:ext cx="1948450" cy="1851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9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2660934">
            <a:off x="-115778" y="-704885"/>
            <a:ext cx="423899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7895404">
            <a:off x="-148908" y="4011829"/>
            <a:ext cx="423899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2927376">
            <a:off x="8777228" y="4080292"/>
            <a:ext cx="423899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rot="8092505">
            <a:off x="8804212" y="-718625"/>
            <a:ext cx="423899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403648" y="987032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79712" y="1851670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555843" y="2809545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31907" y="3723878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E:\PPT\0。图片\PNG\2、win7风格\灰色超全扁平化图标\346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304" y="1084688"/>
            <a:ext cx="380752" cy="38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PPT\0。图片\PNG\2、win7风格\灰色超全扁平化图标\524.png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499" y="2907201"/>
            <a:ext cx="380752" cy="38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:\PPT\0。图片\PNG\2、win7风格\灰色超全扁平化图标\593.png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119" y="1884575"/>
            <a:ext cx="524768" cy="52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E:\PPT\0。图片\PNG\2、win7风格\灰色超全扁平化图标\831.png"/>
          <p:cNvPicPr>
            <a:picLocks noChangeAspect="1" noChangeArrowheads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016" y="3765730"/>
            <a:ext cx="492359" cy="49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>
            <a:off x="2123729" y="987032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355512" y="1053834"/>
            <a:ext cx="434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论文结构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708295" y="1851670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924319" y="1918472"/>
            <a:ext cx="434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6418" y="2809545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492442" y="2876347"/>
            <a:ext cx="434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851920" y="3717183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067944" y="3783985"/>
            <a:ext cx="4347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研究结论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15001" y="485878"/>
            <a:ext cx="101662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Adobe 黑体 Std R" pitchFamily="34" charset="-122"/>
                <a:ea typeface="Adobe 黑体 Std R" pitchFamily="34" charset="-122"/>
              </a:rPr>
              <a:t>目</a:t>
            </a:r>
            <a:endParaRPr lang="en-US" altLang="zh-CN" sz="3200" b="1" dirty="0" smtClean="0">
              <a:solidFill>
                <a:schemeClr val="bg1"/>
              </a:solidFill>
              <a:latin typeface="Adobe 黑体 Std R" pitchFamily="34" charset="-122"/>
              <a:ea typeface="Adobe 黑体 Std R" pitchFamily="34" charset="-122"/>
            </a:endParaRPr>
          </a:p>
          <a:p>
            <a:r>
              <a:rPr lang="zh-CN" altLang="en-US" sz="3200" b="1" dirty="0" smtClean="0">
                <a:solidFill>
                  <a:schemeClr val="bg1"/>
                </a:solidFill>
                <a:latin typeface="Adobe 黑体 Std R" pitchFamily="34" charset="-122"/>
                <a:ea typeface="Adobe 黑体 Std R" pitchFamily="34" charset="-122"/>
              </a:rPr>
              <a:t>    录</a:t>
            </a:r>
            <a:endParaRPr lang="zh-CN" altLang="en-US" sz="3200" b="1" dirty="0">
              <a:solidFill>
                <a:schemeClr val="bg1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870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2625784" y="494040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FD2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3"/>
          <p:cNvSpPr/>
          <p:nvPr/>
        </p:nvSpPr>
        <p:spPr>
          <a:xfrm>
            <a:off x="2625784" y="1142112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B2914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相关概念及技术简介</a:t>
            </a:r>
          </a:p>
        </p:txBody>
      </p:sp>
      <p:sp>
        <p:nvSpPr>
          <p:cNvPr id="16" name="Freeform 3"/>
          <p:cNvSpPr/>
          <p:nvPr/>
        </p:nvSpPr>
        <p:spPr>
          <a:xfrm>
            <a:off x="2625784" y="1792342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FD2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系统分析</a:t>
            </a:r>
          </a:p>
        </p:txBody>
      </p:sp>
      <p:sp>
        <p:nvSpPr>
          <p:cNvPr id="17" name="Freeform 3"/>
          <p:cNvSpPr/>
          <p:nvPr/>
        </p:nvSpPr>
        <p:spPr>
          <a:xfrm>
            <a:off x="2625784" y="2438256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B2914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系统概要设计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3"/>
          <p:cNvSpPr/>
          <p:nvPr/>
        </p:nvSpPr>
        <p:spPr>
          <a:xfrm>
            <a:off x="2625784" y="3072214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FD2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详细设计和实现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401648" y="494040"/>
            <a:ext cx="1073144" cy="432048"/>
            <a:chOff x="1475656" y="1275606"/>
            <a:chExt cx="1073144" cy="432048"/>
          </a:xfrm>
        </p:grpSpPr>
        <p:sp>
          <p:nvSpPr>
            <p:cNvPr id="19" name="矩形 18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401648" y="1142112"/>
            <a:ext cx="1073144" cy="432048"/>
            <a:chOff x="1475656" y="1275606"/>
            <a:chExt cx="1073144" cy="432048"/>
          </a:xfrm>
        </p:grpSpPr>
        <p:sp>
          <p:nvSpPr>
            <p:cNvPr id="27" name="矩形 26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401648" y="1790184"/>
            <a:ext cx="1073144" cy="432048"/>
            <a:chOff x="1475656" y="1275606"/>
            <a:chExt cx="1073144" cy="432048"/>
          </a:xfrm>
        </p:grpSpPr>
        <p:sp>
          <p:nvSpPr>
            <p:cNvPr id="30" name="矩形 29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401648" y="2438256"/>
            <a:ext cx="1073144" cy="432048"/>
            <a:chOff x="1475656" y="1275606"/>
            <a:chExt cx="1073144" cy="432048"/>
          </a:xfrm>
        </p:grpSpPr>
        <p:sp>
          <p:nvSpPr>
            <p:cNvPr id="33" name="矩形 32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401648" y="3086328"/>
            <a:ext cx="1073144" cy="432048"/>
            <a:chOff x="1475656" y="1275606"/>
            <a:chExt cx="1073144" cy="432048"/>
          </a:xfrm>
        </p:grpSpPr>
        <p:sp>
          <p:nvSpPr>
            <p:cNvPr id="36" name="矩形 35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Freeform 3"/>
          <p:cNvSpPr/>
          <p:nvPr/>
        </p:nvSpPr>
        <p:spPr>
          <a:xfrm>
            <a:off x="2627784" y="3765643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B2914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Freeform 3"/>
          <p:cNvSpPr/>
          <p:nvPr/>
        </p:nvSpPr>
        <p:spPr>
          <a:xfrm>
            <a:off x="2627784" y="4399601"/>
            <a:ext cx="4104456" cy="432048"/>
          </a:xfrm>
          <a:custGeom>
            <a:avLst/>
            <a:gdLst>
              <a:gd name="connsiteX0" fmla="*/ 0 w 6181611"/>
              <a:gd name="connsiteY0" fmla="*/ 0 h 719999"/>
              <a:gd name="connsiteX1" fmla="*/ 6181610 w 6181611"/>
              <a:gd name="connsiteY1" fmla="*/ 0 h 719999"/>
              <a:gd name="connsiteX2" fmla="*/ 6181610 w 6181611"/>
              <a:gd name="connsiteY2" fmla="*/ 719999 h 719999"/>
              <a:gd name="connsiteX3" fmla="*/ 0 w 6181611"/>
              <a:gd name="connsiteY3" fmla="*/ 719999 h 719999"/>
              <a:gd name="connsiteX4" fmla="*/ 0 w 6181611"/>
              <a:gd name="connsiteY4" fmla="*/ 0 h 719999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6181611" h="719999">
                <a:moveTo>
                  <a:pt x="0" y="0"/>
                </a:moveTo>
                <a:lnTo>
                  <a:pt x="6181610" y="0"/>
                </a:lnTo>
                <a:lnTo>
                  <a:pt x="6181610" y="719999"/>
                </a:lnTo>
                <a:lnTo>
                  <a:pt x="0" y="719999"/>
                </a:lnTo>
                <a:lnTo>
                  <a:pt x="0" y="0"/>
                </a:lnTo>
              </a:path>
            </a:pathLst>
          </a:custGeom>
          <a:solidFill>
            <a:srgbClr val="DFD2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403648" y="3765643"/>
            <a:ext cx="1073144" cy="432048"/>
            <a:chOff x="1475656" y="1275606"/>
            <a:chExt cx="1073144" cy="432048"/>
          </a:xfrm>
        </p:grpSpPr>
        <p:sp>
          <p:nvSpPr>
            <p:cNvPr id="50" name="矩形 49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403648" y="4413715"/>
            <a:ext cx="1073144" cy="432048"/>
            <a:chOff x="1475656" y="1275606"/>
            <a:chExt cx="1073144" cy="432048"/>
          </a:xfrm>
        </p:grpSpPr>
        <p:sp>
          <p:nvSpPr>
            <p:cNvPr id="53" name="矩形 52"/>
            <p:cNvSpPr/>
            <p:nvPr/>
          </p:nvSpPr>
          <p:spPr>
            <a:xfrm>
              <a:off x="1475656" y="1275606"/>
              <a:ext cx="1037732" cy="432048"/>
            </a:xfrm>
            <a:prstGeom prst="rect">
              <a:avLst/>
            </a:prstGeom>
            <a:solidFill>
              <a:srgbClr val="2B2B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504684" y="1335890"/>
              <a:ext cx="10441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</a:t>
              </a:r>
              <a:endPara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</a:t>
            </a:r>
            <a:endParaRPr lang="en-US" altLang="zh-CN" sz="4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文</a:t>
            </a:r>
            <a:endParaRPr lang="en-US" altLang="zh-CN" sz="4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</a:t>
            </a:r>
            <a:endParaRPr lang="en-US" altLang="zh-CN" sz="4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508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3065186" y="1359308"/>
            <a:ext cx="2398722" cy="2315107"/>
            <a:chOff x="3367465" y="1588232"/>
            <a:chExt cx="2398722" cy="2315107"/>
          </a:xfrm>
        </p:grpSpPr>
        <p:sp>
          <p:nvSpPr>
            <p:cNvPr id="26" name="任意多边形 25"/>
            <p:cNvSpPr/>
            <p:nvPr/>
          </p:nvSpPr>
          <p:spPr>
            <a:xfrm>
              <a:off x="3876506" y="2141232"/>
              <a:ext cx="1380641" cy="1380641"/>
            </a:xfrm>
            <a:custGeom>
              <a:avLst/>
              <a:gdLst>
                <a:gd name="connsiteX0" fmla="*/ 0 w 1380641"/>
                <a:gd name="connsiteY0" fmla="*/ 690321 h 1380641"/>
                <a:gd name="connsiteX1" fmla="*/ 690321 w 1380641"/>
                <a:gd name="connsiteY1" fmla="*/ 0 h 1380641"/>
                <a:gd name="connsiteX2" fmla="*/ 1380642 w 1380641"/>
                <a:gd name="connsiteY2" fmla="*/ 690321 h 1380641"/>
                <a:gd name="connsiteX3" fmla="*/ 690321 w 1380641"/>
                <a:gd name="connsiteY3" fmla="*/ 1380642 h 1380641"/>
                <a:gd name="connsiteX4" fmla="*/ 0 w 1380641"/>
                <a:gd name="connsiteY4" fmla="*/ 690321 h 1380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0641" h="1380641">
                  <a:moveTo>
                    <a:pt x="0" y="690321"/>
                  </a:moveTo>
                  <a:cubicBezTo>
                    <a:pt x="0" y="309067"/>
                    <a:pt x="309067" y="0"/>
                    <a:pt x="690321" y="0"/>
                  </a:cubicBezTo>
                  <a:cubicBezTo>
                    <a:pt x="1071575" y="0"/>
                    <a:pt x="1380642" y="309067"/>
                    <a:pt x="1380642" y="690321"/>
                  </a:cubicBezTo>
                  <a:cubicBezTo>
                    <a:pt x="1380642" y="1071575"/>
                    <a:pt x="1071575" y="1380642"/>
                    <a:pt x="690321" y="1380642"/>
                  </a:cubicBezTo>
                  <a:cubicBezTo>
                    <a:pt x="309067" y="1380642"/>
                    <a:pt x="0" y="1071575"/>
                    <a:pt x="0" y="690321"/>
                  </a:cubicBezTo>
                  <a:close/>
                </a:path>
              </a:pathLst>
            </a:custGeom>
            <a:solidFill>
              <a:srgbClr val="CD1F06"/>
            </a:solid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231400" tIns="231400" rIns="231400" bIns="231400" numCol="1" spcCol="1270" anchor="ctr" anchorCtr="0">
              <a:noAutofit/>
            </a:bodyPr>
            <a:lstStyle/>
            <a:p>
              <a:pPr lvl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b="1" kern="1200" dirty="0" smtClean="0">
                  <a:latin typeface="微软雅黑" pitchFamily="34" charset="-122"/>
                  <a:ea typeface="微软雅黑" pitchFamily="34" charset="-122"/>
                </a:rPr>
                <a:t>系统开发意义</a:t>
              </a:r>
              <a:endParaRPr lang="zh-CN" altLang="en-US" b="1" kern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4221666" y="1588232"/>
              <a:ext cx="690320" cy="690320"/>
            </a:xfrm>
            <a:custGeom>
              <a:avLst/>
              <a:gdLst>
                <a:gd name="connsiteX0" fmla="*/ 0 w 690320"/>
                <a:gd name="connsiteY0" fmla="*/ 345160 h 690320"/>
                <a:gd name="connsiteX1" fmla="*/ 345160 w 690320"/>
                <a:gd name="connsiteY1" fmla="*/ 0 h 690320"/>
                <a:gd name="connsiteX2" fmla="*/ 690320 w 690320"/>
                <a:gd name="connsiteY2" fmla="*/ 345160 h 690320"/>
                <a:gd name="connsiteX3" fmla="*/ 345160 w 690320"/>
                <a:gd name="connsiteY3" fmla="*/ 690320 h 690320"/>
                <a:gd name="connsiteX4" fmla="*/ 0 w 690320"/>
                <a:gd name="connsiteY4" fmla="*/ 345160 h 6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20" h="690320">
                  <a:moveTo>
                    <a:pt x="0" y="345160"/>
                  </a:moveTo>
                  <a:cubicBezTo>
                    <a:pt x="0" y="154533"/>
                    <a:pt x="154533" y="0"/>
                    <a:pt x="345160" y="0"/>
                  </a:cubicBezTo>
                  <a:cubicBezTo>
                    <a:pt x="535787" y="0"/>
                    <a:pt x="690320" y="154533"/>
                    <a:pt x="690320" y="345160"/>
                  </a:cubicBezTo>
                  <a:cubicBezTo>
                    <a:pt x="690320" y="535787"/>
                    <a:pt x="535787" y="690320"/>
                    <a:pt x="345160" y="690320"/>
                  </a:cubicBezTo>
                  <a:cubicBezTo>
                    <a:pt x="154533" y="690320"/>
                    <a:pt x="0" y="535787"/>
                    <a:pt x="0" y="345160"/>
                  </a:cubicBezTo>
                  <a:close/>
                </a:path>
              </a:pathLst>
            </a:custGeom>
            <a:solidFill>
              <a:srgbClr val="DFD2A0"/>
            </a:solidFill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122685" tIns="122685" rIns="122685" bIns="122685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700" kern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700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5075867" y="2208845"/>
              <a:ext cx="690320" cy="690320"/>
            </a:xfrm>
            <a:custGeom>
              <a:avLst/>
              <a:gdLst>
                <a:gd name="connsiteX0" fmla="*/ 0 w 690320"/>
                <a:gd name="connsiteY0" fmla="*/ 345160 h 690320"/>
                <a:gd name="connsiteX1" fmla="*/ 345160 w 690320"/>
                <a:gd name="connsiteY1" fmla="*/ 0 h 690320"/>
                <a:gd name="connsiteX2" fmla="*/ 690320 w 690320"/>
                <a:gd name="connsiteY2" fmla="*/ 345160 h 690320"/>
                <a:gd name="connsiteX3" fmla="*/ 345160 w 690320"/>
                <a:gd name="connsiteY3" fmla="*/ 690320 h 690320"/>
                <a:gd name="connsiteX4" fmla="*/ 0 w 690320"/>
                <a:gd name="connsiteY4" fmla="*/ 345160 h 6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20" h="690320">
                  <a:moveTo>
                    <a:pt x="0" y="345160"/>
                  </a:moveTo>
                  <a:cubicBezTo>
                    <a:pt x="0" y="154533"/>
                    <a:pt x="154533" y="0"/>
                    <a:pt x="345160" y="0"/>
                  </a:cubicBezTo>
                  <a:cubicBezTo>
                    <a:pt x="535787" y="0"/>
                    <a:pt x="690320" y="154533"/>
                    <a:pt x="690320" y="345160"/>
                  </a:cubicBezTo>
                  <a:cubicBezTo>
                    <a:pt x="690320" y="535787"/>
                    <a:pt x="535787" y="690320"/>
                    <a:pt x="345160" y="690320"/>
                  </a:cubicBezTo>
                  <a:cubicBezTo>
                    <a:pt x="154533" y="690320"/>
                    <a:pt x="0" y="535787"/>
                    <a:pt x="0" y="345160"/>
                  </a:cubicBezTo>
                  <a:close/>
                </a:path>
              </a:pathLst>
            </a:custGeom>
            <a:solidFill>
              <a:srgbClr val="DFD2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122685" tIns="122685" rIns="122685" bIns="122685" numCol="1" spcCol="1270" anchor="ctr" anchorCtr="0">
              <a:noAutofit/>
            </a:bodyPr>
            <a:lstStyle/>
            <a:p>
              <a:pPr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7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17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4749592" y="3213019"/>
              <a:ext cx="690320" cy="690320"/>
            </a:xfrm>
            <a:custGeom>
              <a:avLst/>
              <a:gdLst>
                <a:gd name="connsiteX0" fmla="*/ 0 w 690320"/>
                <a:gd name="connsiteY0" fmla="*/ 345160 h 690320"/>
                <a:gd name="connsiteX1" fmla="*/ 345160 w 690320"/>
                <a:gd name="connsiteY1" fmla="*/ 0 h 690320"/>
                <a:gd name="connsiteX2" fmla="*/ 690320 w 690320"/>
                <a:gd name="connsiteY2" fmla="*/ 345160 h 690320"/>
                <a:gd name="connsiteX3" fmla="*/ 345160 w 690320"/>
                <a:gd name="connsiteY3" fmla="*/ 690320 h 690320"/>
                <a:gd name="connsiteX4" fmla="*/ 0 w 690320"/>
                <a:gd name="connsiteY4" fmla="*/ 345160 h 6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20" h="690320">
                  <a:moveTo>
                    <a:pt x="0" y="345160"/>
                  </a:moveTo>
                  <a:cubicBezTo>
                    <a:pt x="0" y="154533"/>
                    <a:pt x="154533" y="0"/>
                    <a:pt x="345160" y="0"/>
                  </a:cubicBezTo>
                  <a:cubicBezTo>
                    <a:pt x="535787" y="0"/>
                    <a:pt x="690320" y="154533"/>
                    <a:pt x="690320" y="345160"/>
                  </a:cubicBezTo>
                  <a:cubicBezTo>
                    <a:pt x="690320" y="535787"/>
                    <a:pt x="535787" y="690320"/>
                    <a:pt x="345160" y="690320"/>
                  </a:cubicBezTo>
                  <a:cubicBezTo>
                    <a:pt x="154533" y="690320"/>
                    <a:pt x="0" y="535787"/>
                    <a:pt x="0" y="345160"/>
                  </a:cubicBezTo>
                  <a:close/>
                </a:path>
              </a:pathLst>
            </a:custGeom>
            <a:solidFill>
              <a:srgbClr val="DFD2A0"/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122685" tIns="122685" rIns="122685" bIns="122685" numCol="1" spcCol="1270" anchor="ctr" anchorCtr="0">
              <a:noAutofit/>
            </a:bodyPr>
            <a:lstStyle/>
            <a:p>
              <a:pPr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7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17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3693741" y="3213019"/>
              <a:ext cx="690320" cy="690320"/>
            </a:xfrm>
            <a:custGeom>
              <a:avLst/>
              <a:gdLst>
                <a:gd name="connsiteX0" fmla="*/ 0 w 690320"/>
                <a:gd name="connsiteY0" fmla="*/ 345160 h 690320"/>
                <a:gd name="connsiteX1" fmla="*/ 345160 w 690320"/>
                <a:gd name="connsiteY1" fmla="*/ 0 h 690320"/>
                <a:gd name="connsiteX2" fmla="*/ 690320 w 690320"/>
                <a:gd name="connsiteY2" fmla="*/ 345160 h 690320"/>
                <a:gd name="connsiteX3" fmla="*/ 345160 w 690320"/>
                <a:gd name="connsiteY3" fmla="*/ 690320 h 690320"/>
                <a:gd name="connsiteX4" fmla="*/ 0 w 690320"/>
                <a:gd name="connsiteY4" fmla="*/ 345160 h 6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20" h="690320">
                  <a:moveTo>
                    <a:pt x="0" y="345160"/>
                  </a:moveTo>
                  <a:cubicBezTo>
                    <a:pt x="0" y="154533"/>
                    <a:pt x="154533" y="0"/>
                    <a:pt x="345160" y="0"/>
                  </a:cubicBezTo>
                  <a:cubicBezTo>
                    <a:pt x="535787" y="0"/>
                    <a:pt x="690320" y="154533"/>
                    <a:pt x="690320" y="345160"/>
                  </a:cubicBezTo>
                  <a:cubicBezTo>
                    <a:pt x="690320" y="535787"/>
                    <a:pt x="535787" y="690320"/>
                    <a:pt x="345160" y="690320"/>
                  </a:cubicBezTo>
                  <a:cubicBezTo>
                    <a:pt x="154533" y="690320"/>
                    <a:pt x="0" y="535787"/>
                    <a:pt x="0" y="345160"/>
                  </a:cubicBezTo>
                  <a:close/>
                </a:path>
              </a:pathLst>
            </a:custGeom>
            <a:solidFill>
              <a:srgbClr val="DFD2A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122685" tIns="122685" rIns="122685" bIns="122685" numCol="1" spcCol="1270" anchor="ctr" anchorCtr="0">
              <a:noAutofit/>
            </a:bodyPr>
            <a:lstStyle/>
            <a:p>
              <a:pPr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7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17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3367465" y="2208845"/>
              <a:ext cx="690320" cy="690320"/>
            </a:xfrm>
            <a:custGeom>
              <a:avLst/>
              <a:gdLst>
                <a:gd name="connsiteX0" fmla="*/ 0 w 690320"/>
                <a:gd name="connsiteY0" fmla="*/ 345160 h 690320"/>
                <a:gd name="connsiteX1" fmla="*/ 345160 w 690320"/>
                <a:gd name="connsiteY1" fmla="*/ 0 h 690320"/>
                <a:gd name="connsiteX2" fmla="*/ 690320 w 690320"/>
                <a:gd name="connsiteY2" fmla="*/ 345160 h 690320"/>
                <a:gd name="connsiteX3" fmla="*/ 345160 w 690320"/>
                <a:gd name="connsiteY3" fmla="*/ 690320 h 690320"/>
                <a:gd name="connsiteX4" fmla="*/ 0 w 690320"/>
                <a:gd name="connsiteY4" fmla="*/ 345160 h 6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0320" h="690320">
                  <a:moveTo>
                    <a:pt x="0" y="345160"/>
                  </a:moveTo>
                  <a:cubicBezTo>
                    <a:pt x="0" y="154533"/>
                    <a:pt x="154533" y="0"/>
                    <a:pt x="345160" y="0"/>
                  </a:cubicBezTo>
                  <a:cubicBezTo>
                    <a:pt x="535787" y="0"/>
                    <a:pt x="690320" y="154533"/>
                    <a:pt x="690320" y="345160"/>
                  </a:cubicBezTo>
                  <a:cubicBezTo>
                    <a:pt x="690320" y="535787"/>
                    <a:pt x="535787" y="690320"/>
                    <a:pt x="345160" y="690320"/>
                  </a:cubicBezTo>
                  <a:cubicBezTo>
                    <a:pt x="154533" y="690320"/>
                    <a:pt x="0" y="535787"/>
                    <a:pt x="0" y="345160"/>
                  </a:cubicBezTo>
                  <a:close/>
                </a:path>
              </a:pathLst>
            </a:custGeom>
            <a:solidFill>
              <a:srgbClr val="DFD2A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spcFirstLastPara="0" vert="horz" wrap="square" lIns="122685" tIns="122685" rIns="122685" bIns="122685" numCol="1" spcCol="1270" anchor="ctr" anchorCtr="0">
              <a:noAutofit/>
            </a:bodyPr>
            <a:lstStyle/>
            <a:p>
              <a:pPr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7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sz="17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4999553" y="3497153"/>
            <a:ext cx="3132756" cy="285904"/>
          </a:xfrm>
          <a:prstGeom prst="rect">
            <a:avLst/>
          </a:prstGeom>
        </p:spPr>
        <p:txBody>
          <a:bodyPr wrap="square" lIns="68573" tIns="34286" rIns="68573" bIns="34286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</a:t>
            </a:r>
            <a:r>
              <a: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Node.Js+MySQL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开发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6768" y="1855019"/>
            <a:ext cx="3048680" cy="249804"/>
          </a:xfrm>
          <a:prstGeom prst="rect">
            <a:avLst/>
          </a:prstGeom>
        </p:spPr>
        <p:txBody>
          <a:bodyPr wrap="square" lIns="68573" tIns="34286" rIns="68573" bIns="34286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探索</a:t>
            </a:r>
            <a:r>
              <a:rPr lang="en-US" altLang="zh-CN" sz="1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</a:t>
            </a:r>
            <a:r>
              <a:rPr lang="zh-CN" altLang="en-US" sz="1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在高并发、异步处理数据方面的特性 </a:t>
            </a:r>
            <a:endParaRPr lang="zh-CN" altLang="en-US" sz="1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31819" y="1900257"/>
            <a:ext cx="2868805" cy="267886"/>
          </a:xfrm>
          <a:prstGeom prst="rect">
            <a:avLst/>
          </a:prstGeom>
        </p:spPr>
        <p:txBody>
          <a:bodyPr wrap="square" lIns="68573" tIns="34286" rIns="68573" bIns="34286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11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JavaScript</a:t>
            </a:r>
            <a:r>
              <a:rPr lang="zh-CN" altLang="en-US" sz="11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进行全栈开发</a:t>
            </a:r>
          </a:p>
        </p:txBody>
      </p:sp>
      <p:sp>
        <p:nvSpPr>
          <p:cNvPr id="10" name="矩形 9"/>
          <p:cNvSpPr/>
          <p:nvPr/>
        </p:nvSpPr>
        <p:spPr>
          <a:xfrm>
            <a:off x="380784" y="3530965"/>
            <a:ext cx="2832627" cy="285904"/>
          </a:xfrm>
          <a:prstGeom prst="rect">
            <a:avLst/>
          </a:prstGeom>
        </p:spPr>
        <p:txBody>
          <a:bodyPr wrap="square" lIns="68573" tIns="34286" rIns="68573" bIns="34286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</a:t>
            </a:r>
            <a:r>
              <a: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Node.Js+ReDis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实现类单点登录</a:t>
            </a:r>
            <a:endParaRPr lang="zh-CN" altLang="en-US" sz="12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8743" y="3638970"/>
            <a:ext cx="3348808" cy="216024"/>
            <a:chOff x="1130623" y="5949280"/>
            <a:chExt cx="4464496" cy="28803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5163071" y="5949280"/>
              <a:ext cx="432048" cy="288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130623" y="6237312"/>
              <a:ext cx="403244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/>
        </p:nvCxnSpPr>
        <p:spPr>
          <a:xfrm>
            <a:off x="2271239" y="1037715"/>
            <a:ext cx="410499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 flipH="1" flipV="1">
            <a:off x="5435641" y="2176763"/>
            <a:ext cx="2306450" cy="296636"/>
            <a:chOff x="1130623" y="5949280"/>
            <a:chExt cx="4464496" cy="288032"/>
          </a:xfrm>
        </p:grpSpPr>
        <p:cxnSp>
          <p:nvCxnSpPr>
            <p:cNvPr id="16" name="直接连接符 15"/>
            <p:cNvCxnSpPr/>
            <p:nvPr/>
          </p:nvCxnSpPr>
          <p:spPr>
            <a:xfrm flipH="1">
              <a:off x="5163071" y="5949280"/>
              <a:ext cx="432048" cy="288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1130623" y="6237312"/>
              <a:ext cx="403244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flipH="1">
            <a:off x="5057554" y="3543273"/>
            <a:ext cx="2540521" cy="232974"/>
            <a:chOff x="1130623" y="5949280"/>
            <a:chExt cx="4464496" cy="288032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5163071" y="5949280"/>
              <a:ext cx="432048" cy="288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130623" y="6237312"/>
              <a:ext cx="403244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 flipV="1">
            <a:off x="218742" y="2109912"/>
            <a:ext cx="2846443" cy="190022"/>
            <a:chOff x="1130623" y="5949280"/>
            <a:chExt cx="4464496" cy="288032"/>
          </a:xfrm>
        </p:grpSpPr>
        <p:cxnSp>
          <p:nvCxnSpPr>
            <p:cNvPr id="22" name="直接连接符 21"/>
            <p:cNvCxnSpPr/>
            <p:nvPr/>
          </p:nvCxnSpPr>
          <p:spPr>
            <a:xfrm flipH="1">
              <a:off x="5163071" y="5949280"/>
              <a:ext cx="432048" cy="288032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1130623" y="6237312"/>
              <a:ext cx="403244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连接符 23"/>
          <p:cNvCxnSpPr/>
          <p:nvPr/>
        </p:nvCxnSpPr>
        <p:spPr>
          <a:xfrm flipV="1">
            <a:off x="4251769" y="1037715"/>
            <a:ext cx="0" cy="32159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262979" y="705316"/>
            <a:ext cx="4113250" cy="308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</a:t>
            </a:r>
            <a:r>
              <a:rPr lang="en-US" altLang="zh-CN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</a:t>
            </a:r>
            <a:r>
              <a:rPr lang="zh-CN" altLang="en-US" sz="12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实现视频上传的方法</a:t>
            </a:r>
            <a:endParaRPr lang="zh-CN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9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729772"/>
              </p:ext>
            </p:extLst>
          </p:nvPr>
        </p:nvGraphicFramePr>
        <p:xfrm>
          <a:off x="1484547" y="1155328"/>
          <a:ext cx="60959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1460443"/>
                <a:gridCol w="1741714"/>
                <a:gridCol w="1741714"/>
              </a:tblGrid>
              <a:tr h="741680">
                <a:tc row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9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91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9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2A0"/>
                    </a:solidFill>
                  </a:tcPr>
                </a:tc>
              </a:tr>
              <a:tr h="741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2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2A0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endParaRPr lang="en-US" altLang="zh-CN" sz="2400" b="1" dirty="0" smtClean="0"/>
                    </a:p>
                    <a:p>
                      <a:pPr algn="ctr"/>
                      <a:r>
                        <a:rPr lang="en-US" altLang="zh-CN" sz="2400" b="1" dirty="0" smtClean="0"/>
                        <a:t>express</a:t>
                      </a:r>
                    </a:p>
                    <a:p>
                      <a:pPr algn="ctr"/>
                      <a:r>
                        <a:rPr lang="en-US" altLang="zh-CN" sz="9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Web</a:t>
                      </a:r>
                      <a:r>
                        <a:rPr lang="en-US" altLang="zh-CN" sz="900" b="1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application framework </a:t>
                      </a:r>
                    </a:p>
                    <a:p>
                      <a:pPr algn="ctr"/>
                      <a:r>
                        <a:rPr lang="en-US" altLang="zh-CN" sz="900" b="1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for node</a:t>
                      </a:r>
                      <a:endParaRPr lang="zh-CN" altLang="en-US" sz="9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2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2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  <a:tr h="7416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91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384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2914"/>
                    </a:solidFill>
                  </a:tcPr>
                </a:tc>
              </a:tr>
            </a:tbl>
          </a:graphicData>
        </a:graphic>
      </p:graphicFrame>
      <p:pic>
        <p:nvPicPr>
          <p:cNvPr id="17" name="图片 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053" y="3100857"/>
            <a:ext cx="1433455" cy="87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388" y="1981174"/>
            <a:ext cx="1358129" cy="1358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138" y="1304032"/>
            <a:ext cx="842919" cy="1183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872" y="1304032"/>
            <a:ext cx="1423416" cy="47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04" y="3493514"/>
            <a:ext cx="1001352" cy="518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图片 24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89" r="1065"/>
          <a:stretch/>
        </p:blipFill>
        <p:spPr bwMode="auto">
          <a:xfrm>
            <a:off x="5861947" y="1923855"/>
            <a:ext cx="1687417" cy="143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 descr="https://timgsa.baidu.com/timg?image&amp;quality=80&amp;size=b9999_10000&amp;sec=1526751613213&amp;di=44d844370199bdaf7ced5d4c450ff06d&amp;imgtype=0&amp;src=http%3A%2F%2Fwww.myexception.cn%2Fimg%2F2017%2F08%2F12%2F17521230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" t="2869" r="6707" b="2511"/>
          <a:stretch/>
        </p:blipFill>
        <p:spPr bwMode="auto">
          <a:xfrm>
            <a:off x="4122709" y="1181282"/>
            <a:ext cx="1691297" cy="179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s://timgsa.baidu.com/timg?image&amp;quality=80&amp;size=b9999_10000&amp;sec=1526751691369&amp;di=9583b90d43f9b457feb57291044f2bb4&amp;imgtype=jpg&amp;src=http%3A%2F%2Fimg3.imgtn.bdimg.com%2Fit%2Fu%3D3606298363%2C3654485836%26fm%3D214%26gp%3D0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509" y="3610769"/>
            <a:ext cx="1261008" cy="28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374" y="1304032"/>
            <a:ext cx="1321143" cy="4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矩形 29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相关技术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和开发工具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827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992343" y="1199122"/>
            <a:ext cx="1060818" cy="996701"/>
            <a:chOff x="2329340" y="1055495"/>
            <a:chExt cx="1060818" cy="996701"/>
          </a:xfrm>
        </p:grpSpPr>
        <p:sp>
          <p:nvSpPr>
            <p:cNvPr id="25" name="任意多边形 24"/>
            <p:cNvSpPr/>
            <p:nvPr/>
          </p:nvSpPr>
          <p:spPr>
            <a:xfrm>
              <a:off x="2843804" y="1506439"/>
              <a:ext cx="546354" cy="545757"/>
            </a:xfrm>
            <a:custGeom>
              <a:avLst/>
              <a:gdLst>
                <a:gd name="connsiteX0" fmla="*/ 0 w 546354"/>
                <a:gd name="connsiteY0" fmla="*/ 272879 h 545757"/>
                <a:gd name="connsiteX1" fmla="*/ 273177 w 546354"/>
                <a:gd name="connsiteY1" fmla="*/ 0 h 545757"/>
                <a:gd name="connsiteX2" fmla="*/ 546354 w 546354"/>
                <a:gd name="connsiteY2" fmla="*/ 272879 h 545757"/>
                <a:gd name="connsiteX3" fmla="*/ 273177 w 546354"/>
                <a:gd name="connsiteY3" fmla="*/ 545758 h 545757"/>
                <a:gd name="connsiteX4" fmla="*/ 0 w 546354"/>
                <a:gd name="connsiteY4" fmla="*/ 272879 h 5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354" h="545757">
                  <a:moveTo>
                    <a:pt x="0" y="272879"/>
                  </a:moveTo>
                  <a:cubicBezTo>
                    <a:pt x="0" y="122172"/>
                    <a:pt x="122306" y="0"/>
                    <a:pt x="273177" y="0"/>
                  </a:cubicBezTo>
                  <a:cubicBezTo>
                    <a:pt x="424048" y="0"/>
                    <a:pt x="546354" y="122172"/>
                    <a:pt x="546354" y="272879"/>
                  </a:cubicBezTo>
                  <a:cubicBezTo>
                    <a:pt x="546354" y="423586"/>
                    <a:pt x="424048" y="545758"/>
                    <a:pt x="273177" y="545758"/>
                  </a:cubicBezTo>
                  <a:cubicBezTo>
                    <a:pt x="122306" y="545758"/>
                    <a:pt x="0" y="423586"/>
                    <a:pt x="0" y="272879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DB2914"/>
              </a:solidFill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3982" tIns="93894" rIns="93982" bIns="93894" numCol="1" spcCol="1270" anchor="ctr" anchorCtr="0">
              <a:noAutofit/>
            </a:bodyPr>
            <a:lstStyle/>
            <a:p>
              <a:pPr lvl="0" algn="ctr" defTabSz="9779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1" kern="1200" dirty="0" smtClean="0">
                  <a:solidFill>
                    <a:schemeClr val="tx1"/>
                  </a:solidFill>
                </a:rPr>
                <a:t>用户模块</a:t>
              </a:r>
              <a:endParaRPr lang="zh-CN" altLang="en-US" sz="12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rot="25317417">
              <a:off x="2736420" y="1369785"/>
              <a:ext cx="343153" cy="34402"/>
            </a:xfrm>
            <a:custGeom>
              <a:avLst/>
              <a:gdLst>
                <a:gd name="connsiteX0" fmla="*/ 0 w 343153"/>
                <a:gd name="connsiteY0" fmla="*/ 17200 h 34401"/>
                <a:gd name="connsiteX1" fmla="*/ 343153 w 343153"/>
                <a:gd name="connsiteY1" fmla="*/ 17200 h 3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3153" h="34401">
                  <a:moveTo>
                    <a:pt x="343153" y="17201"/>
                  </a:moveTo>
                  <a:lnTo>
                    <a:pt x="0" y="17201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6261" tIns="8066" rIns="186260" bIns="8066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</a:endParaRPr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686724" y="1055495"/>
              <a:ext cx="191287" cy="191287"/>
            </a:xfrm>
            <a:custGeom>
              <a:avLst/>
              <a:gdLst>
                <a:gd name="connsiteX0" fmla="*/ 0 w 191287"/>
                <a:gd name="connsiteY0" fmla="*/ 95644 h 191287"/>
                <a:gd name="connsiteX1" fmla="*/ 95644 w 191287"/>
                <a:gd name="connsiteY1" fmla="*/ 0 h 191287"/>
                <a:gd name="connsiteX2" fmla="*/ 191288 w 191287"/>
                <a:gd name="connsiteY2" fmla="*/ 95644 h 191287"/>
                <a:gd name="connsiteX3" fmla="*/ 95644 w 191287"/>
                <a:gd name="connsiteY3" fmla="*/ 191288 h 191287"/>
                <a:gd name="connsiteX4" fmla="*/ 0 w 191287"/>
                <a:gd name="connsiteY4" fmla="*/ 95644 h 19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87" h="191287">
                  <a:moveTo>
                    <a:pt x="0" y="95644"/>
                  </a:moveTo>
                  <a:cubicBezTo>
                    <a:pt x="0" y="42821"/>
                    <a:pt x="42821" y="0"/>
                    <a:pt x="95644" y="0"/>
                  </a:cubicBezTo>
                  <a:cubicBezTo>
                    <a:pt x="148467" y="0"/>
                    <a:pt x="191288" y="42821"/>
                    <a:pt x="191288" y="95644"/>
                  </a:cubicBezTo>
                  <a:cubicBezTo>
                    <a:pt x="191288" y="148467"/>
                    <a:pt x="148467" y="191288"/>
                    <a:pt x="95644" y="191288"/>
                  </a:cubicBezTo>
                  <a:cubicBezTo>
                    <a:pt x="42821" y="191288"/>
                    <a:pt x="0" y="148467"/>
                    <a:pt x="0" y="956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93" tIns="33093" rIns="33093" bIns="33093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800" dirty="0"/>
            </a:p>
          </p:txBody>
        </p:sp>
        <p:sp>
          <p:nvSpPr>
            <p:cNvPr id="28" name="任意多边形 27"/>
            <p:cNvSpPr/>
            <p:nvPr/>
          </p:nvSpPr>
          <p:spPr>
            <a:xfrm rot="17098158">
              <a:off x="3102329" y="1387581"/>
              <a:ext cx="229587" cy="34401"/>
            </a:xfrm>
            <a:custGeom>
              <a:avLst/>
              <a:gdLst>
                <a:gd name="connsiteX0" fmla="*/ 0 w 229587"/>
                <a:gd name="connsiteY0" fmla="*/ 17200 h 34401"/>
                <a:gd name="connsiteX1" fmla="*/ 229587 w 229587"/>
                <a:gd name="connsiteY1" fmla="*/ 17200 h 3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587" h="34401">
                  <a:moveTo>
                    <a:pt x="0" y="17200"/>
                  </a:moveTo>
                  <a:lnTo>
                    <a:pt x="229587" y="1720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6261" tIns="8066" rIns="186260" bIns="8066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3175836" y="1105842"/>
              <a:ext cx="191287" cy="191287"/>
            </a:xfrm>
            <a:custGeom>
              <a:avLst/>
              <a:gdLst>
                <a:gd name="connsiteX0" fmla="*/ 0 w 191287"/>
                <a:gd name="connsiteY0" fmla="*/ 95644 h 191287"/>
                <a:gd name="connsiteX1" fmla="*/ 95644 w 191287"/>
                <a:gd name="connsiteY1" fmla="*/ 0 h 191287"/>
                <a:gd name="connsiteX2" fmla="*/ 191288 w 191287"/>
                <a:gd name="connsiteY2" fmla="*/ 95644 h 191287"/>
                <a:gd name="connsiteX3" fmla="*/ 95644 w 191287"/>
                <a:gd name="connsiteY3" fmla="*/ 191288 h 191287"/>
                <a:gd name="connsiteX4" fmla="*/ 0 w 191287"/>
                <a:gd name="connsiteY4" fmla="*/ 95644 h 19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87" h="191287">
                  <a:moveTo>
                    <a:pt x="0" y="95644"/>
                  </a:moveTo>
                  <a:cubicBezTo>
                    <a:pt x="0" y="42821"/>
                    <a:pt x="42821" y="0"/>
                    <a:pt x="95644" y="0"/>
                  </a:cubicBezTo>
                  <a:cubicBezTo>
                    <a:pt x="148467" y="0"/>
                    <a:pt x="191288" y="42821"/>
                    <a:pt x="191288" y="95644"/>
                  </a:cubicBezTo>
                  <a:cubicBezTo>
                    <a:pt x="191288" y="148467"/>
                    <a:pt x="148467" y="191288"/>
                    <a:pt x="95644" y="191288"/>
                  </a:cubicBezTo>
                  <a:cubicBezTo>
                    <a:pt x="42821" y="191288"/>
                    <a:pt x="0" y="148467"/>
                    <a:pt x="0" y="956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93" tIns="33093" rIns="33093" bIns="33093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800" dirty="0"/>
            </a:p>
          </p:txBody>
        </p:sp>
        <p:sp>
          <p:nvSpPr>
            <p:cNvPr id="30" name="任意多边形 29"/>
            <p:cNvSpPr/>
            <p:nvPr/>
          </p:nvSpPr>
          <p:spPr>
            <a:xfrm rot="21020935">
              <a:off x="2516917" y="1835835"/>
              <a:ext cx="333120" cy="34402"/>
            </a:xfrm>
            <a:custGeom>
              <a:avLst/>
              <a:gdLst>
                <a:gd name="connsiteX0" fmla="*/ 0 w 333119"/>
                <a:gd name="connsiteY0" fmla="*/ 17200 h 34401"/>
                <a:gd name="connsiteX1" fmla="*/ 333119 w 333119"/>
                <a:gd name="connsiteY1" fmla="*/ 17200 h 3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3119" h="34401">
                  <a:moveTo>
                    <a:pt x="333119" y="17201"/>
                  </a:moveTo>
                  <a:lnTo>
                    <a:pt x="0" y="17201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6261" tIns="8066" rIns="186260" bIns="8066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</a:endParaRPr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2329340" y="1801351"/>
              <a:ext cx="191287" cy="191287"/>
            </a:xfrm>
            <a:custGeom>
              <a:avLst/>
              <a:gdLst>
                <a:gd name="connsiteX0" fmla="*/ 0 w 191287"/>
                <a:gd name="connsiteY0" fmla="*/ 95644 h 191287"/>
                <a:gd name="connsiteX1" fmla="*/ 95644 w 191287"/>
                <a:gd name="connsiteY1" fmla="*/ 0 h 191287"/>
                <a:gd name="connsiteX2" fmla="*/ 191288 w 191287"/>
                <a:gd name="connsiteY2" fmla="*/ 95644 h 191287"/>
                <a:gd name="connsiteX3" fmla="*/ 95644 w 191287"/>
                <a:gd name="connsiteY3" fmla="*/ 191288 h 191287"/>
                <a:gd name="connsiteX4" fmla="*/ 0 w 191287"/>
                <a:gd name="connsiteY4" fmla="*/ 95644 h 19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87" h="191287">
                  <a:moveTo>
                    <a:pt x="0" y="95644"/>
                  </a:moveTo>
                  <a:cubicBezTo>
                    <a:pt x="0" y="42821"/>
                    <a:pt x="42821" y="0"/>
                    <a:pt x="95644" y="0"/>
                  </a:cubicBezTo>
                  <a:cubicBezTo>
                    <a:pt x="148467" y="0"/>
                    <a:pt x="191288" y="42821"/>
                    <a:pt x="191288" y="95644"/>
                  </a:cubicBezTo>
                  <a:cubicBezTo>
                    <a:pt x="191288" y="148467"/>
                    <a:pt x="148467" y="191288"/>
                    <a:pt x="95644" y="191288"/>
                  </a:cubicBezTo>
                  <a:cubicBezTo>
                    <a:pt x="42821" y="191288"/>
                    <a:pt x="0" y="148467"/>
                    <a:pt x="0" y="956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93" tIns="33093" rIns="33093" bIns="33093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800" dirty="0"/>
            </a:p>
          </p:txBody>
        </p:sp>
        <p:sp>
          <p:nvSpPr>
            <p:cNvPr id="32" name="任意多边形 31"/>
            <p:cNvSpPr/>
            <p:nvPr/>
          </p:nvSpPr>
          <p:spPr>
            <a:xfrm rot="23137660">
              <a:off x="2523311" y="1564965"/>
              <a:ext cx="365391" cy="34402"/>
            </a:xfrm>
            <a:custGeom>
              <a:avLst/>
              <a:gdLst>
                <a:gd name="connsiteX0" fmla="*/ 0 w 365390"/>
                <a:gd name="connsiteY0" fmla="*/ 17200 h 34401"/>
                <a:gd name="connsiteX1" fmla="*/ 365390 w 365390"/>
                <a:gd name="connsiteY1" fmla="*/ 17200 h 3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5390" h="34401">
                  <a:moveTo>
                    <a:pt x="365390" y="17201"/>
                  </a:moveTo>
                  <a:lnTo>
                    <a:pt x="0" y="17201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6261" tIns="8066" rIns="186260" bIns="8066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2359406" y="1366136"/>
              <a:ext cx="191287" cy="191287"/>
            </a:xfrm>
            <a:custGeom>
              <a:avLst/>
              <a:gdLst>
                <a:gd name="connsiteX0" fmla="*/ 0 w 191287"/>
                <a:gd name="connsiteY0" fmla="*/ 95644 h 191287"/>
                <a:gd name="connsiteX1" fmla="*/ 95644 w 191287"/>
                <a:gd name="connsiteY1" fmla="*/ 0 h 191287"/>
                <a:gd name="connsiteX2" fmla="*/ 191288 w 191287"/>
                <a:gd name="connsiteY2" fmla="*/ 95644 h 191287"/>
                <a:gd name="connsiteX3" fmla="*/ 95644 w 191287"/>
                <a:gd name="connsiteY3" fmla="*/ 191288 h 191287"/>
                <a:gd name="connsiteX4" fmla="*/ 0 w 191287"/>
                <a:gd name="connsiteY4" fmla="*/ 95644 h 19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287" h="191287">
                  <a:moveTo>
                    <a:pt x="0" y="95644"/>
                  </a:moveTo>
                  <a:cubicBezTo>
                    <a:pt x="0" y="42821"/>
                    <a:pt x="42821" y="0"/>
                    <a:pt x="95644" y="0"/>
                  </a:cubicBezTo>
                  <a:cubicBezTo>
                    <a:pt x="148467" y="0"/>
                    <a:pt x="191288" y="42821"/>
                    <a:pt x="191288" y="95644"/>
                  </a:cubicBezTo>
                  <a:cubicBezTo>
                    <a:pt x="191288" y="148467"/>
                    <a:pt x="148467" y="191288"/>
                    <a:pt x="95644" y="191288"/>
                  </a:cubicBezTo>
                  <a:cubicBezTo>
                    <a:pt x="42821" y="191288"/>
                    <a:pt x="0" y="148467"/>
                    <a:pt x="0" y="956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093" tIns="33093" rIns="33093" bIns="33093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800" kern="1200" dirty="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43398" y="3851295"/>
            <a:ext cx="1299023" cy="908291"/>
            <a:chOff x="3780395" y="3707668"/>
            <a:chExt cx="1299023" cy="908291"/>
          </a:xfrm>
        </p:grpSpPr>
        <p:sp>
          <p:nvSpPr>
            <p:cNvPr id="43" name="任意多边形 42"/>
            <p:cNvSpPr/>
            <p:nvPr/>
          </p:nvSpPr>
          <p:spPr>
            <a:xfrm>
              <a:off x="4212393" y="3707668"/>
              <a:ext cx="622940" cy="622940"/>
            </a:xfrm>
            <a:custGeom>
              <a:avLst/>
              <a:gdLst>
                <a:gd name="connsiteX0" fmla="*/ 0 w 622940"/>
                <a:gd name="connsiteY0" fmla="*/ 311470 h 622940"/>
                <a:gd name="connsiteX1" fmla="*/ 311470 w 622940"/>
                <a:gd name="connsiteY1" fmla="*/ 0 h 622940"/>
                <a:gd name="connsiteX2" fmla="*/ 622940 w 622940"/>
                <a:gd name="connsiteY2" fmla="*/ 311470 h 622940"/>
                <a:gd name="connsiteX3" fmla="*/ 311470 w 622940"/>
                <a:gd name="connsiteY3" fmla="*/ 622940 h 622940"/>
                <a:gd name="connsiteX4" fmla="*/ 0 w 622940"/>
                <a:gd name="connsiteY4" fmla="*/ 311470 h 62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940" h="622940">
                  <a:moveTo>
                    <a:pt x="0" y="311470"/>
                  </a:moveTo>
                  <a:cubicBezTo>
                    <a:pt x="0" y="139450"/>
                    <a:pt x="139450" y="0"/>
                    <a:pt x="311470" y="0"/>
                  </a:cubicBezTo>
                  <a:cubicBezTo>
                    <a:pt x="483490" y="0"/>
                    <a:pt x="622940" y="139450"/>
                    <a:pt x="622940" y="311470"/>
                  </a:cubicBezTo>
                  <a:cubicBezTo>
                    <a:pt x="622940" y="483490"/>
                    <a:pt x="483490" y="622940"/>
                    <a:pt x="311470" y="622940"/>
                  </a:cubicBezTo>
                  <a:cubicBezTo>
                    <a:pt x="139450" y="622940"/>
                    <a:pt x="0" y="483490"/>
                    <a:pt x="0" y="311470"/>
                  </a:cubicBezTo>
                  <a:close/>
                </a:path>
              </a:pathLst>
            </a:custGeom>
            <a:solidFill>
              <a:srgbClr val="DFD2A0"/>
            </a:solidFill>
            <a:ln>
              <a:solidFill>
                <a:srgbClr val="DB291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6942" tIns="96942" rIns="96942" bIns="96942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1" kern="1200" dirty="0" smtClean="0">
                  <a:solidFill>
                    <a:srgbClr val="DB2914"/>
                  </a:solidFill>
                </a:rPr>
                <a:t>评论</a:t>
              </a:r>
              <a:endParaRPr lang="en-US" altLang="zh-CN" sz="1200" b="1" kern="1200" dirty="0" smtClean="0">
                <a:solidFill>
                  <a:srgbClr val="DB2914"/>
                </a:solidFill>
              </a:endParaRPr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1" kern="1200" dirty="0" smtClean="0">
                  <a:solidFill>
                    <a:srgbClr val="DB2914"/>
                  </a:solidFill>
                </a:rPr>
                <a:t>模块</a:t>
              </a:r>
              <a:endParaRPr lang="zh-CN" altLang="en-US" sz="1200" b="1" kern="1200" dirty="0">
                <a:solidFill>
                  <a:srgbClr val="DB2914"/>
                </a:solidFill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 rot="622753">
              <a:off x="4829584" y="4066361"/>
              <a:ext cx="79894" cy="32178"/>
            </a:xfrm>
            <a:custGeom>
              <a:avLst/>
              <a:gdLst>
                <a:gd name="connsiteX0" fmla="*/ 0 w 79894"/>
                <a:gd name="connsiteY0" fmla="*/ 16089 h 32178"/>
                <a:gd name="connsiteX1" fmla="*/ 79894 w 79894"/>
                <a:gd name="connsiteY1" fmla="*/ 16089 h 3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894" h="32178">
                  <a:moveTo>
                    <a:pt x="0" y="16089"/>
                  </a:moveTo>
                  <a:lnTo>
                    <a:pt x="79894" y="16089"/>
                  </a:lnTo>
                </a:path>
              </a:pathLst>
            </a:custGeom>
            <a:noFill/>
            <a:ln>
              <a:solidFill>
                <a:srgbClr val="DFD2A0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874" tIns="12238" rIns="85875" bIns="12237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4907417" y="4019141"/>
              <a:ext cx="172001" cy="172001"/>
            </a:xfrm>
            <a:custGeom>
              <a:avLst/>
              <a:gdLst>
                <a:gd name="connsiteX0" fmla="*/ 0 w 172001"/>
                <a:gd name="connsiteY0" fmla="*/ 86001 h 172001"/>
                <a:gd name="connsiteX1" fmla="*/ 86001 w 172001"/>
                <a:gd name="connsiteY1" fmla="*/ 0 h 172001"/>
                <a:gd name="connsiteX2" fmla="*/ 172002 w 172001"/>
                <a:gd name="connsiteY2" fmla="*/ 86001 h 172001"/>
                <a:gd name="connsiteX3" fmla="*/ 86001 w 172001"/>
                <a:gd name="connsiteY3" fmla="*/ 172002 h 172001"/>
                <a:gd name="connsiteX4" fmla="*/ 0 w 172001"/>
                <a:gd name="connsiteY4" fmla="*/ 86001 h 1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01" h="172001">
                  <a:moveTo>
                    <a:pt x="0" y="86001"/>
                  </a:moveTo>
                  <a:cubicBezTo>
                    <a:pt x="0" y="38504"/>
                    <a:pt x="38504" y="0"/>
                    <a:pt x="86001" y="0"/>
                  </a:cubicBezTo>
                  <a:cubicBezTo>
                    <a:pt x="133498" y="0"/>
                    <a:pt x="172002" y="38504"/>
                    <a:pt x="172002" y="86001"/>
                  </a:cubicBezTo>
                  <a:cubicBezTo>
                    <a:pt x="172002" y="133498"/>
                    <a:pt x="133498" y="172002"/>
                    <a:pt x="86001" y="172002"/>
                  </a:cubicBezTo>
                  <a:cubicBezTo>
                    <a:pt x="38504" y="172002"/>
                    <a:pt x="0" y="133498"/>
                    <a:pt x="0" y="86001"/>
                  </a:cubicBezTo>
                  <a:close/>
                </a:path>
              </a:pathLst>
            </a:custGeom>
            <a:solidFill>
              <a:srgbClr val="DFD2A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34" tIns="29634" rIns="29634" bIns="29634" numCol="1" spcCol="1270" anchor="ctr" anchorCtr="0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700" dirty="0"/>
            </a:p>
          </p:txBody>
        </p:sp>
        <p:sp>
          <p:nvSpPr>
            <p:cNvPr id="48" name="任意多边形 47"/>
            <p:cNvSpPr/>
            <p:nvPr/>
          </p:nvSpPr>
          <p:spPr>
            <a:xfrm rot="4226212">
              <a:off x="4580053" y="4364686"/>
              <a:ext cx="144643" cy="32178"/>
            </a:xfrm>
            <a:custGeom>
              <a:avLst/>
              <a:gdLst>
                <a:gd name="connsiteX0" fmla="*/ 0 w 144643"/>
                <a:gd name="connsiteY0" fmla="*/ 16089 h 32178"/>
                <a:gd name="connsiteX1" fmla="*/ 144643 w 144643"/>
                <a:gd name="connsiteY1" fmla="*/ 16089 h 3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643" h="32178">
                  <a:moveTo>
                    <a:pt x="0" y="16089"/>
                  </a:moveTo>
                  <a:lnTo>
                    <a:pt x="144643" y="16089"/>
                  </a:lnTo>
                </a:path>
              </a:pathLst>
            </a:custGeom>
            <a:noFill/>
            <a:ln>
              <a:solidFill>
                <a:srgbClr val="DFD2A0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874" tIns="12238" rIns="85875" bIns="12237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4619387" y="4443958"/>
              <a:ext cx="172001" cy="172001"/>
            </a:xfrm>
            <a:custGeom>
              <a:avLst/>
              <a:gdLst>
                <a:gd name="connsiteX0" fmla="*/ 0 w 172001"/>
                <a:gd name="connsiteY0" fmla="*/ 86001 h 172001"/>
                <a:gd name="connsiteX1" fmla="*/ 86001 w 172001"/>
                <a:gd name="connsiteY1" fmla="*/ 0 h 172001"/>
                <a:gd name="connsiteX2" fmla="*/ 172002 w 172001"/>
                <a:gd name="connsiteY2" fmla="*/ 86001 h 172001"/>
                <a:gd name="connsiteX3" fmla="*/ 86001 w 172001"/>
                <a:gd name="connsiteY3" fmla="*/ 172002 h 172001"/>
                <a:gd name="connsiteX4" fmla="*/ 0 w 172001"/>
                <a:gd name="connsiteY4" fmla="*/ 86001 h 1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01" h="172001">
                  <a:moveTo>
                    <a:pt x="0" y="86001"/>
                  </a:moveTo>
                  <a:cubicBezTo>
                    <a:pt x="0" y="38504"/>
                    <a:pt x="38504" y="0"/>
                    <a:pt x="86001" y="0"/>
                  </a:cubicBezTo>
                  <a:cubicBezTo>
                    <a:pt x="133498" y="0"/>
                    <a:pt x="172002" y="38504"/>
                    <a:pt x="172002" y="86001"/>
                  </a:cubicBezTo>
                  <a:cubicBezTo>
                    <a:pt x="172002" y="133498"/>
                    <a:pt x="133498" y="172002"/>
                    <a:pt x="86001" y="172002"/>
                  </a:cubicBezTo>
                  <a:cubicBezTo>
                    <a:pt x="38504" y="172002"/>
                    <a:pt x="0" y="133498"/>
                    <a:pt x="0" y="86001"/>
                  </a:cubicBezTo>
                  <a:close/>
                </a:path>
              </a:pathLst>
            </a:custGeom>
            <a:solidFill>
              <a:srgbClr val="DFD2A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34" tIns="29634" rIns="29634" bIns="29634" numCol="1" spcCol="1270" anchor="ctr" anchorCtr="0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700" dirty="0"/>
            </a:p>
          </p:txBody>
        </p:sp>
        <p:sp>
          <p:nvSpPr>
            <p:cNvPr id="52" name="任意多边形 51"/>
            <p:cNvSpPr/>
            <p:nvPr/>
          </p:nvSpPr>
          <p:spPr>
            <a:xfrm rot="21274987">
              <a:off x="3951425" y="4044863"/>
              <a:ext cx="262946" cy="32179"/>
            </a:xfrm>
            <a:custGeom>
              <a:avLst/>
              <a:gdLst>
                <a:gd name="connsiteX0" fmla="*/ 0 w 262945"/>
                <a:gd name="connsiteY0" fmla="*/ 16089 h 32178"/>
                <a:gd name="connsiteX1" fmla="*/ 262945 w 262945"/>
                <a:gd name="connsiteY1" fmla="*/ 16089 h 32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2945" h="32178">
                  <a:moveTo>
                    <a:pt x="262945" y="16089"/>
                  </a:moveTo>
                  <a:lnTo>
                    <a:pt x="0" y="16089"/>
                  </a:lnTo>
                </a:path>
              </a:pathLst>
            </a:custGeom>
            <a:noFill/>
            <a:ln>
              <a:solidFill>
                <a:srgbClr val="DFD2A0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5874" tIns="12238" rIns="85875" bIns="12237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3780395" y="3995482"/>
              <a:ext cx="172001" cy="172001"/>
            </a:xfrm>
            <a:custGeom>
              <a:avLst/>
              <a:gdLst>
                <a:gd name="connsiteX0" fmla="*/ 0 w 172001"/>
                <a:gd name="connsiteY0" fmla="*/ 86001 h 172001"/>
                <a:gd name="connsiteX1" fmla="*/ 86001 w 172001"/>
                <a:gd name="connsiteY1" fmla="*/ 0 h 172001"/>
                <a:gd name="connsiteX2" fmla="*/ 172002 w 172001"/>
                <a:gd name="connsiteY2" fmla="*/ 86001 h 172001"/>
                <a:gd name="connsiteX3" fmla="*/ 86001 w 172001"/>
                <a:gd name="connsiteY3" fmla="*/ 172002 h 172001"/>
                <a:gd name="connsiteX4" fmla="*/ 0 w 172001"/>
                <a:gd name="connsiteY4" fmla="*/ 86001 h 1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001" h="172001">
                  <a:moveTo>
                    <a:pt x="0" y="86001"/>
                  </a:moveTo>
                  <a:cubicBezTo>
                    <a:pt x="0" y="38504"/>
                    <a:pt x="38504" y="0"/>
                    <a:pt x="86001" y="0"/>
                  </a:cubicBezTo>
                  <a:cubicBezTo>
                    <a:pt x="133498" y="0"/>
                    <a:pt x="172002" y="38504"/>
                    <a:pt x="172002" y="86001"/>
                  </a:cubicBezTo>
                  <a:cubicBezTo>
                    <a:pt x="172002" y="133498"/>
                    <a:pt x="133498" y="172002"/>
                    <a:pt x="86001" y="172002"/>
                  </a:cubicBezTo>
                  <a:cubicBezTo>
                    <a:pt x="38504" y="172002"/>
                    <a:pt x="0" y="133498"/>
                    <a:pt x="0" y="86001"/>
                  </a:cubicBezTo>
                  <a:close/>
                </a:path>
              </a:pathLst>
            </a:custGeom>
            <a:solidFill>
              <a:srgbClr val="DFD2A0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634" tIns="29634" rIns="29634" bIns="29634" numCol="1" spcCol="1270" anchor="ctr" anchorCtr="0">
              <a:noAutofit/>
            </a:bodyPr>
            <a:lstStyle/>
            <a:p>
              <a:pPr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7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862525" y="1012259"/>
            <a:ext cx="1024187" cy="906525"/>
            <a:chOff x="6199522" y="868632"/>
            <a:chExt cx="1024187" cy="906525"/>
          </a:xfrm>
        </p:grpSpPr>
        <p:sp>
          <p:nvSpPr>
            <p:cNvPr id="35" name="任意多边形 34"/>
            <p:cNvSpPr/>
            <p:nvPr/>
          </p:nvSpPr>
          <p:spPr>
            <a:xfrm>
              <a:off x="6199522" y="1248343"/>
              <a:ext cx="527390" cy="526814"/>
            </a:xfrm>
            <a:custGeom>
              <a:avLst/>
              <a:gdLst>
                <a:gd name="connsiteX0" fmla="*/ 0 w 527390"/>
                <a:gd name="connsiteY0" fmla="*/ 263407 h 526814"/>
                <a:gd name="connsiteX1" fmla="*/ 263695 w 527390"/>
                <a:gd name="connsiteY1" fmla="*/ 0 h 526814"/>
                <a:gd name="connsiteX2" fmla="*/ 527390 w 527390"/>
                <a:gd name="connsiteY2" fmla="*/ 263407 h 526814"/>
                <a:gd name="connsiteX3" fmla="*/ 263695 w 527390"/>
                <a:gd name="connsiteY3" fmla="*/ 526814 h 526814"/>
                <a:gd name="connsiteX4" fmla="*/ 0 w 527390"/>
                <a:gd name="connsiteY4" fmla="*/ 263407 h 526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7390" h="526814">
                  <a:moveTo>
                    <a:pt x="0" y="263407"/>
                  </a:moveTo>
                  <a:cubicBezTo>
                    <a:pt x="0" y="117931"/>
                    <a:pt x="118060" y="0"/>
                    <a:pt x="263695" y="0"/>
                  </a:cubicBezTo>
                  <a:cubicBezTo>
                    <a:pt x="409330" y="0"/>
                    <a:pt x="527390" y="117931"/>
                    <a:pt x="527390" y="263407"/>
                  </a:cubicBezTo>
                  <a:cubicBezTo>
                    <a:pt x="527390" y="408883"/>
                    <a:pt x="409330" y="526814"/>
                    <a:pt x="263695" y="526814"/>
                  </a:cubicBezTo>
                  <a:cubicBezTo>
                    <a:pt x="118060" y="526814"/>
                    <a:pt x="0" y="408883"/>
                    <a:pt x="0" y="263407"/>
                  </a:cubicBezTo>
                  <a:close/>
                </a:path>
              </a:pathLst>
            </a:custGeom>
            <a:solidFill>
              <a:srgbClr val="DB2914"/>
            </a:solidFill>
            <a:ln w="19050">
              <a:solidFill>
                <a:schemeClr val="bg1"/>
              </a:solidFill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569" tIns="90485" rIns="90569" bIns="90485" numCol="1" spcCol="1270" anchor="ctr" anchorCtr="0">
              <a:noAutofit/>
            </a:bodyPr>
            <a:lstStyle/>
            <a:p>
              <a:pPr lvl="0" algn="ctr" defTabSz="9334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1" kern="1200" dirty="0" smtClean="0">
                  <a:solidFill>
                    <a:srgbClr val="DFD2A0"/>
                  </a:solidFill>
                </a:rPr>
                <a:t>视频模块</a:t>
              </a:r>
              <a:endParaRPr lang="zh-CN" altLang="en-US" sz="1200" b="1" kern="1200" dirty="0">
                <a:solidFill>
                  <a:srgbClr val="DFD2A0"/>
                </a:solidFill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rot="19203244">
              <a:off x="6612508" y="1169868"/>
              <a:ext cx="452364" cy="54851"/>
            </a:xfrm>
            <a:custGeom>
              <a:avLst/>
              <a:gdLst>
                <a:gd name="connsiteX0" fmla="*/ 0 w 452364"/>
                <a:gd name="connsiteY0" fmla="*/ 27425 h 54851"/>
                <a:gd name="connsiteX1" fmla="*/ 452364 w 452364"/>
                <a:gd name="connsiteY1" fmla="*/ 27425 h 54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2364" h="54851">
                  <a:moveTo>
                    <a:pt x="0" y="27425"/>
                  </a:moveTo>
                  <a:lnTo>
                    <a:pt x="452364" y="27425"/>
                  </a:lnTo>
                </a:path>
              </a:pathLst>
            </a:custGeom>
            <a:noFill/>
            <a:ln>
              <a:solidFill>
                <a:srgbClr val="DB2914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7573" tIns="16117" rIns="227572" bIns="16115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6986026" y="868632"/>
              <a:ext cx="223423" cy="223423"/>
            </a:xfrm>
            <a:custGeom>
              <a:avLst/>
              <a:gdLst>
                <a:gd name="connsiteX0" fmla="*/ 0 w 223423"/>
                <a:gd name="connsiteY0" fmla="*/ 111712 h 223423"/>
                <a:gd name="connsiteX1" fmla="*/ 111712 w 223423"/>
                <a:gd name="connsiteY1" fmla="*/ 0 h 223423"/>
                <a:gd name="connsiteX2" fmla="*/ 223424 w 223423"/>
                <a:gd name="connsiteY2" fmla="*/ 111712 h 223423"/>
                <a:gd name="connsiteX3" fmla="*/ 111712 w 223423"/>
                <a:gd name="connsiteY3" fmla="*/ 223424 h 223423"/>
                <a:gd name="connsiteX4" fmla="*/ 0 w 223423"/>
                <a:gd name="connsiteY4" fmla="*/ 111712 h 22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423" h="223423">
                  <a:moveTo>
                    <a:pt x="0" y="111712"/>
                  </a:moveTo>
                  <a:cubicBezTo>
                    <a:pt x="0" y="50015"/>
                    <a:pt x="50015" y="0"/>
                    <a:pt x="111712" y="0"/>
                  </a:cubicBezTo>
                  <a:cubicBezTo>
                    <a:pt x="173409" y="0"/>
                    <a:pt x="223424" y="50015"/>
                    <a:pt x="223424" y="111712"/>
                  </a:cubicBezTo>
                  <a:cubicBezTo>
                    <a:pt x="223424" y="173409"/>
                    <a:pt x="173409" y="223424"/>
                    <a:pt x="111712" y="223424"/>
                  </a:cubicBezTo>
                  <a:cubicBezTo>
                    <a:pt x="50015" y="223424"/>
                    <a:pt x="0" y="173409"/>
                    <a:pt x="0" y="111712"/>
                  </a:cubicBezTo>
                  <a:close/>
                </a:path>
              </a:pathLst>
            </a:custGeom>
            <a:solidFill>
              <a:srgbClr val="DB2914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895" tIns="35895" rIns="35895" bIns="35895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38" name="任意多边形 37"/>
            <p:cNvSpPr/>
            <p:nvPr/>
          </p:nvSpPr>
          <p:spPr>
            <a:xfrm rot="107512">
              <a:off x="6726716" y="1496849"/>
              <a:ext cx="273691" cy="54851"/>
            </a:xfrm>
            <a:custGeom>
              <a:avLst/>
              <a:gdLst>
                <a:gd name="connsiteX0" fmla="*/ 0 w 273691"/>
                <a:gd name="connsiteY0" fmla="*/ 27425 h 54851"/>
                <a:gd name="connsiteX1" fmla="*/ 273691 w 273691"/>
                <a:gd name="connsiteY1" fmla="*/ 27425 h 54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3691" h="54851">
                  <a:moveTo>
                    <a:pt x="0" y="27425"/>
                  </a:moveTo>
                  <a:lnTo>
                    <a:pt x="273691" y="27425"/>
                  </a:lnTo>
                </a:path>
              </a:pathLst>
            </a:custGeom>
            <a:noFill/>
            <a:ln>
              <a:solidFill>
                <a:srgbClr val="DB2914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703" tIns="20583" rIns="142703" bIns="20583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7000286" y="1420335"/>
              <a:ext cx="223423" cy="223423"/>
            </a:xfrm>
            <a:custGeom>
              <a:avLst/>
              <a:gdLst>
                <a:gd name="connsiteX0" fmla="*/ 0 w 223423"/>
                <a:gd name="connsiteY0" fmla="*/ 111712 h 223423"/>
                <a:gd name="connsiteX1" fmla="*/ 111712 w 223423"/>
                <a:gd name="connsiteY1" fmla="*/ 0 h 223423"/>
                <a:gd name="connsiteX2" fmla="*/ 223424 w 223423"/>
                <a:gd name="connsiteY2" fmla="*/ 111712 h 223423"/>
                <a:gd name="connsiteX3" fmla="*/ 111712 w 223423"/>
                <a:gd name="connsiteY3" fmla="*/ 223424 h 223423"/>
                <a:gd name="connsiteX4" fmla="*/ 0 w 223423"/>
                <a:gd name="connsiteY4" fmla="*/ 111712 h 22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423" h="223423">
                  <a:moveTo>
                    <a:pt x="0" y="111712"/>
                  </a:moveTo>
                  <a:cubicBezTo>
                    <a:pt x="0" y="50015"/>
                    <a:pt x="50015" y="0"/>
                    <a:pt x="111712" y="0"/>
                  </a:cubicBezTo>
                  <a:cubicBezTo>
                    <a:pt x="173409" y="0"/>
                    <a:pt x="223424" y="50015"/>
                    <a:pt x="223424" y="111712"/>
                  </a:cubicBezTo>
                  <a:cubicBezTo>
                    <a:pt x="223424" y="173409"/>
                    <a:pt x="173409" y="223424"/>
                    <a:pt x="111712" y="223424"/>
                  </a:cubicBezTo>
                  <a:cubicBezTo>
                    <a:pt x="50015" y="223424"/>
                    <a:pt x="0" y="173409"/>
                    <a:pt x="0" y="111712"/>
                  </a:cubicBezTo>
                  <a:close/>
                </a:path>
              </a:pathLst>
            </a:custGeom>
            <a:solidFill>
              <a:srgbClr val="DB2914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895" tIns="35895" rIns="35895" bIns="35895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40" name="任意多边形 39"/>
            <p:cNvSpPr/>
            <p:nvPr/>
          </p:nvSpPr>
          <p:spPr>
            <a:xfrm rot="26717882">
              <a:off x="6360879" y="1147425"/>
              <a:ext cx="149255" cy="54852"/>
            </a:xfrm>
            <a:custGeom>
              <a:avLst/>
              <a:gdLst>
                <a:gd name="connsiteX0" fmla="*/ 0 w 149255"/>
                <a:gd name="connsiteY0" fmla="*/ 27425 h 54851"/>
                <a:gd name="connsiteX1" fmla="*/ 149255 w 149255"/>
                <a:gd name="connsiteY1" fmla="*/ 27425 h 54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55" h="54851">
                  <a:moveTo>
                    <a:pt x="149255" y="27426"/>
                  </a:moveTo>
                  <a:lnTo>
                    <a:pt x="0" y="27426"/>
                  </a:lnTo>
                </a:path>
              </a:pathLst>
            </a:custGeom>
            <a:noFill/>
            <a:ln>
              <a:solidFill>
                <a:srgbClr val="DB2914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596" tIns="23694" rIns="83596" bIns="23695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6308520" y="877427"/>
              <a:ext cx="223423" cy="223423"/>
            </a:xfrm>
            <a:custGeom>
              <a:avLst/>
              <a:gdLst>
                <a:gd name="connsiteX0" fmla="*/ 0 w 223423"/>
                <a:gd name="connsiteY0" fmla="*/ 111712 h 223423"/>
                <a:gd name="connsiteX1" fmla="*/ 111712 w 223423"/>
                <a:gd name="connsiteY1" fmla="*/ 0 h 223423"/>
                <a:gd name="connsiteX2" fmla="*/ 223424 w 223423"/>
                <a:gd name="connsiteY2" fmla="*/ 111712 h 223423"/>
                <a:gd name="connsiteX3" fmla="*/ 111712 w 223423"/>
                <a:gd name="connsiteY3" fmla="*/ 223424 h 223423"/>
                <a:gd name="connsiteX4" fmla="*/ 0 w 223423"/>
                <a:gd name="connsiteY4" fmla="*/ 111712 h 22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423" h="223423">
                  <a:moveTo>
                    <a:pt x="0" y="111712"/>
                  </a:moveTo>
                  <a:cubicBezTo>
                    <a:pt x="0" y="50015"/>
                    <a:pt x="50015" y="0"/>
                    <a:pt x="111712" y="0"/>
                  </a:cubicBezTo>
                  <a:cubicBezTo>
                    <a:pt x="173409" y="0"/>
                    <a:pt x="223424" y="50015"/>
                    <a:pt x="223424" y="111712"/>
                  </a:cubicBezTo>
                  <a:cubicBezTo>
                    <a:pt x="223424" y="173409"/>
                    <a:pt x="173409" y="223424"/>
                    <a:pt x="111712" y="223424"/>
                  </a:cubicBezTo>
                  <a:cubicBezTo>
                    <a:pt x="50015" y="223424"/>
                    <a:pt x="0" y="173409"/>
                    <a:pt x="0" y="111712"/>
                  </a:cubicBezTo>
                  <a:close/>
                </a:path>
              </a:pathLst>
            </a:custGeom>
            <a:solidFill>
              <a:srgbClr val="DB2914"/>
            </a:solidFill>
            <a:ln>
              <a:noFill/>
            </a:ln>
          </p:spPr>
          <p:style>
            <a:lnRef idx="3">
              <a:scrgbClr r="0" g="0" b="0"/>
            </a:lnRef>
            <a:fillRef idx="1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895" tIns="35895" rIns="35895" bIns="35895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 dirty="0"/>
            </a:p>
          </p:txBody>
        </p:sp>
      </p:grpSp>
      <p:cxnSp>
        <p:nvCxnSpPr>
          <p:cNvPr id="8" name="直接连接符 7"/>
          <p:cNvCxnSpPr/>
          <p:nvPr/>
        </p:nvCxnSpPr>
        <p:spPr>
          <a:xfrm flipV="1">
            <a:off x="4497421" y="1734673"/>
            <a:ext cx="1436417" cy="827088"/>
          </a:xfrm>
          <a:prstGeom prst="line">
            <a:avLst/>
          </a:prstGeom>
          <a:ln w="57150">
            <a:solidFill>
              <a:srgbClr val="DB29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56" idx="4"/>
          </p:cNvCxnSpPr>
          <p:nvPr/>
        </p:nvCxnSpPr>
        <p:spPr>
          <a:xfrm flipH="1">
            <a:off x="4162995" y="3226528"/>
            <a:ext cx="91320" cy="659133"/>
          </a:xfrm>
          <a:prstGeom prst="line">
            <a:avLst/>
          </a:prstGeom>
          <a:ln w="57150">
            <a:solidFill>
              <a:srgbClr val="DFD2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938859" y="1922941"/>
            <a:ext cx="936104" cy="450552"/>
          </a:xfrm>
          <a:prstGeom prst="lin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cxnSp>
      <p:sp>
        <p:nvSpPr>
          <p:cNvPr id="56" name="椭圆 55"/>
          <p:cNvSpPr/>
          <p:nvPr/>
        </p:nvSpPr>
        <p:spPr>
          <a:xfrm>
            <a:off x="3695226" y="2139616"/>
            <a:ext cx="1118178" cy="1086912"/>
          </a:xfrm>
          <a:prstGeom prst="ellipse">
            <a:avLst/>
          </a:prstGeom>
          <a:solidFill>
            <a:srgbClr val="DB291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884347" y="1440756"/>
            <a:ext cx="11079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个人信息修改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>
            <a:spLocks noChangeArrowheads="1"/>
          </p:cNvSpPr>
          <p:nvPr/>
        </p:nvSpPr>
        <p:spPr bwMode="auto">
          <a:xfrm>
            <a:off x="1101294" y="2144744"/>
            <a:ext cx="11079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个人头像上传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1892942" y="929395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用户注册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2589019" y="922123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用户登录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4872663" y="4139109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rgbClr val="DFD2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评论发布</a:t>
            </a:r>
            <a:endParaRPr lang="zh-CN" altLang="en-US" sz="1200" dirty="0">
              <a:solidFill>
                <a:srgbClr val="DFD2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2570999" y="4139109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rgbClr val="DFD2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评论删除</a:t>
            </a:r>
            <a:endParaRPr lang="zh-CN" altLang="en-US" sz="1200" dirty="0">
              <a:solidFill>
                <a:srgbClr val="DFD2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4054281" y="4822576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rgbClr val="DFD2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评论列表</a:t>
            </a:r>
            <a:endParaRPr lang="zh-CN" altLang="en-US" sz="1200" dirty="0">
              <a:solidFill>
                <a:srgbClr val="DFD2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>
            <a:spLocks noChangeArrowheads="1"/>
          </p:cNvSpPr>
          <p:nvPr/>
        </p:nvSpPr>
        <p:spPr bwMode="auto">
          <a:xfrm>
            <a:off x="6894197" y="985470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视频列表</a:t>
            </a:r>
            <a:endParaRPr lang="en-US" altLang="zh-CN" sz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我的视频列表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>
            <a:spLocks noChangeArrowheads="1"/>
          </p:cNvSpPr>
          <p:nvPr/>
        </p:nvSpPr>
        <p:spPr bwMode="auto">
          <a:xfrm>
            <a:off x="6929717" y="1566731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视频删除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>
            <a:spLocks noChangeArrowheads="1"/>
          </p:cNvSpPr>
          <p:nvPr/>
        </p:nvSpPr>
        <p:spPr bwMode="auto">
          <a:xfrm>
            <a:off x="5404362" y="685486"/>
            <a:ext cx="12618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视频上传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、播放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3781227" y="2364043"/>
            <a:ext cx="90281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四川大学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视频共享</a:t>
            </a:r>
            <a:endParaRPr lang="en-US" altLang="zh-CN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系统功能模块介绍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893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915566"/>
            <a:ext cx="5992408" cy="3878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138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未命名文件 (12)"/>
          <p:cNvPicPr/>
          <p:nvPr/>
        </p:nvPicPr>
        <p:blipFill>
          <a:blip r:embed="rId2"/>
          <a:stretch>
            <a:fillRect/>
          </a:stretch>
        </p:blipFill>
        <p:spPr>
          <a:xfrm>
            <a:off x="1115616" y="670811"/>
            <a:ext cx="5939155" cy="38887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60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34517" y="1540768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11960" y="1500281"/>
            <a:ext cx="576064" cy="576064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6" name="Picture 2" descr="E:\PPT\0。图片\PNG\2、win7风格\灰色超全扁平化图标\569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581802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E:\PPT\0。图片\PNG\2、win7风格\灰色超全扁平化图标\525.png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5" y="1634974"/>
            <a:ext cx="387652" cy="38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/>
        </p:nvSpPr>
        <p:spPr>
          <a:xfrm>
            <a:off x="1396540" y="2126388"/>
            <a:ext cx="2226012" cy="19524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788024" y="2085121"/>
            <a:ext cx="2218904" cy="1952472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数据库冗余设计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396540" y="1087985"/>
            <a:ext cx="2442036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88024" y="1048090"/>
            <a:ext cx="2650952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用户扩展信息表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37399"/>
              </p:ext>
            </p:extLst>
          </p:nvPr>
        </p:nvGraphicFramePr>
        <p:xfrm>
          <a:off x="1390812" y="2133125"/>
          <a:ext cx="2438259" cy="2099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3548"/>
                <a:gridCol w="397821"/>
                <a:gridCol w="456770"/>
                <a:gridCol w="504056"/>
                <a:gridCol w="576064"/>
              </a:tblGrid>
              <a:tr h="59925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 smtClean="0">
                          <a:effectLst/>
                        </a:rPr>
                        <a:t>字段</a:t>
                      </a:r>
                      <a:r>
                        <a:rPr lang="zh-CN" altLang="zh-CN" sz="600" kern="0" dirty="0" smtClean="0">
                          <a:effectLst/>
                        </a:rPr>
                        <a:t>中</a:t>
                      </a:r>
                      <a:endParaRPr lang="en-US" altLang="zh-CN" sz="600" kern="0" dirty="0" smtClean="0">
                        <a:effectLst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600" kern="0" dirty="0" smtClean="0">
                          <a:effectLst/>
                        </a:rPr>
                        <a:t>文</a:t>
                      </a:r>
                      <a:r>
                        <a:rPr lang="zh-CN" sz="600" kern="0" dirty="0" smtClean="0">
                          <a:effectLst/>
                        </a:rPr>
                        <a:t>名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 smtClean="0">
                          <a:effectLst/>
                        </a:rPr>
                        <a:t>字段</a:t>
                      </a:r>
                      <a:r>
                        <a:rPr lang="zh-CN" altLang="zh-CN" sz="600" kern="0" dirty="0" smtClean="0">
                          <a:effectLst/>
                        </a:rPr>
                        <a:t>英文</a:t>
                      </a:r>
                      <a:r>
                        <a:rPr lang="zh-CN" sz="600" kern="0" dirty="0" smtClean="0">
                          <a:effectLst/>
                        </a:rPr>
                        <a:t>名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类型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 smtClean="0">
                          <a:effectLst/>
                        </a:rPr>
                        <a:t>是否索引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备注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8445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用户</a:t>
                      </a:r>
                      <a:r>
                        <a:rPr lang="en-US" sz="600" kern="0">
                          <a:effectLst/>
                        </a:rPr>
                        <a:t>ID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 err="1">
                          <a:effectLst/>
                        </a:rPr>
                        <a:t>user_id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 err="1">
                          <a:effectLst/>
                        </a:rPr>
                        <a:t>int</a:t>
                      </a:r>
                      <a:r>
                        <a:rPr lang="en-US" sz="600" kern="0" dirty="0">
                          <a:effectLst/>
                        </a:rPr>
                        <a:t>(11)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是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主键，自增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3101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用户名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username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char(64)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是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3101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 smtClean="0">
                          <a:effectLst/>
                        </a:rPr>
                        <a:t>密码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smtClean="0">
                          <a:effectLst/>
                        </a:rPr>
                        <a:t>password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smtClean="0">
                          <a:effectLst/>
                        </a:rPr>
                        <a:t>char(16)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smtClean="0">
                          <a:effectLst/>
                        </a:rPr>
                        <a:t>否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 smtClean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66727"/>
              </p:ext>
            </p:extLst>
          </p:nvPr>
        </p:nvGraphicFramePr>
        <p:xfrm>
          <a:off x="4788024" y="2076345"/>
          <a:ext cx="2650952" cy="228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2720"/>
                <a:gridCol w="576064"/>
                <a:gridCol w="504056"/>
                <a:gridCol w="504056"/>
                <a:gridCol w="504056"/>
              </a:tblGrid>
              <a:tr h="140402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中文字段名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英文字段名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类型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是否索引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 dirty="0">
                          <a:effectLst/>
                        </a:rPr>
                        <a:t>备注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用户信息扩展表</a:t>
                      </a:r>
                      <a:r>
                        <a:rPr lang="en-US" sz="600" kern="0">
                          <a:effectLst/>
                        </a:rPr>
                        <a:t>ID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>
                          <a:effectLst/>
                        </a:rPr>
                        <a:t>id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int(11)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是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主键，自增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用户</a:t>
                      </a:r>
                      <a:r>
                        <a:rPr lang="en-US" sz="600" kern="0">
                          <a:effectLst/>
                        </a:rPr>
                        <a:t>ID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user_id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int(11)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是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用户昵称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real_name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char(64)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是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手机号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phone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char(16)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否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性别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>
                          <a:effectLst/>
                        </a:rPr>
                        <a:t>gender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int(1)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否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头像地址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avatar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char(255)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否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43441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邮箱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email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>
                          <a:effectLst/>
                        </a:rPr>
                        <a:t>char(255)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600" kern="0">
                          <a:effectLst/>
                        </a:rPr>
                        <a:t>否</a:t>
                      </a:r>
                      <a:endParaRPr lang="zh-CN" sz="6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600" kern="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9" name="矩形 38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38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10-1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57"/>
          <a:stretch>
            <a:fillRect/>
          </a:stretch>
        </p:blipFill>
        <p:spPr bwMode="auto">
          <a:xfrm>
            <a:off x="683568" y="2373417"/>
            <a:ext cx="7344816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系统亮点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05272" y="1455836"/>
            <a:ext cx="1196360" cy="1170118"/>
          </a:xfrm>
          <a:prstGeom prst="ellipse">
            <a:avLst/>
          </a:prstGeom>
          <a:solidFill>
            <a:srgbClr val="DFD2A0"/>
          </a:solidFill>
          <a:ln>
            <a:solidFill>
              <a:srgbClr val="DFD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DB2914"/>
                </a:solidFill>
              </a:rPr>
              <a:t>前端缓存</a:t>
            </a:r>
            <a:endParaRPr lang="zh-CN" altLang="en-US" sz="2400" b="1" dirty="0">
              <a:solidFill>
                <a:srgbClr val="DB2914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66488" y="2292923"/>
            <a:ext cx="1103295" cy="1091379"/>
          </a:xfrm>
          <a:prstGeom prst="ellipse">
            <a:avLst/>
          </a:prstGeom>
          <a:solidFill>
            <a:srgbClr val="DB2914"/>
          </a:solidFill>
          <a:ln>
            <a:solidFill>
              <a:srgbClr val="DB29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DFD2A0"/>
                </a:solidFill>
              </a:rPr>
              <a:t>自适应界面</a:t>
            </a:r>
            <a:endParaRPr lang="zh-CN" altLang="en-US" sz="1400" b="1" dirty="0">
              <a:solidFill>
                <a:srgbClr val="DFD2A0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701831" y="1896879"/>
            <a:ext cx="819865" cy="792088"/>
          </a:xfrm>
          <a:prstGeom prst="ellipse">
            <a:avLst/>
          </a:prstGeom>
          <a:solidFill>
            <a:srgbClr val="DFD2A0"/>
          </a:solidFill>
          <a:ln>
            <a:solidFill>
              <a:srgbClr val="DFD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DB2914"/>
                </a:solidFill>
              </a:rPr>
              <a:t>异步并发</a:t>
            </a:r>
            <a:endParaRPr lang="zh-CN" altLang="en-US" sz="1400" b="1" dirty="0">
              <a:solidFill>
                <a:srgbClr val="DB2914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510143" y="1500835"/>
            <a:ext cx="1152128" cy="1086711"/>
          </a:xfrm>
          <a:prstGeom prst="ellipse">
            <a:avLst/>
          </a:prstGeom>
          <a:solidFill>
            <a:srgbClr val="DFD2A0"/>
          </a:solidFill>
          <a:ln>
            <a:solidFill>
              <a:srgbClr val="DFD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 smtClean="0">
                <a:solidFill>
                  <a:srgbClr val="DB2914"/>
                </a:solidFill>
              </a:rPr>
              <a:t>ReDis</a:t>
            </a:r>
            <a:r>
              <a:rPr lang="zh-CN" altLang="en-US" sz="1400" b="1" dirty="0">
                <a:solidFill>
                  <a:srgbClr val="DB2914"/>
                </a:solidFill>
              </a:rPr>
              <a:t>非关系型</a:t>
            </a:r>
            <a:r>
              <a:rPr lang="zh-CN" altLang="en-US" sz="1400" b="1" dirty="0" smtClean="0">
                <a:solidFill>
                  <a:srgbClr val="DB2914"/>
                </a:solidFill>
              </a:rPr>
              <a:t>数据库</a:t>
            </a:r>
            <a:endParaRPr lang="zh-CN" altLang="en-US" sz="1400" b="1" dirty="0">
              <a:solidFill>
                <a:srgbClr val="DB2914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997975" y="2376190"/>
            <a:ext cx="1008112" cy="1008112"/>
          </a:xfrm>
          <a:prstGeom prst="ellipse">
            <a:avLst/>
          </a:prstGeom>
          <a:solidFill>
            <a:srgbClr val="DB2914"/>
          </a:solidFill>
          <a:ln>
            <a:solidFill>
              <a:srgbClr val="DB29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DFD2A0"/>
                </a:solidFill>
              </a:rPr>
              <a:t>二进制文件上传</a:t>
            </a:r>
            <a:endParaRPr lang="zh-CN" altLang="en-US" sz="1200" b="1" dirty="0">
              <a:solidFill>
                <a:srgbClr val="DFD2A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572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04934" y="1505360"/>
            <a:ext cx="3449648" cy="2354671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493366" y="1505360"/>
            <a:ext cx="3449647" cy="2354671"/>
          </a:xfrm>
          <a:prstGeom prst="rect">
            <a:avLst/>
          </a:prstGeom>
          <a:solidFill>
            <a:srgbClr val="DFD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系统亮点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604934" y="1505585"/>
            <a:ext cx="3449647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6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调用者主动等待这个调用的结果</a:t>
            </a:r>
            <a:endParaRPr lang="en-US" altLang="zh-CN" sz="1600" dirty="0">
              <a:solidFill>
                <a:srgbClr val="DFD2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6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在银行排队办理业务，什么都不能干，一直排队等待排到自己</a:t>
            </a:r>
            <a:endParaRPr lang="en-US" altLang="zh-CN" sz="1600" dirty="0">
              <a:solidFill>
                <a:srgbClr val="DFD2A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6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效率最低</a:t>
            </a:r>
            <a:endParaRPr lang="en-US" altLang="zh-CN" sz="1600" dirty="0">
              <a:solidFill>
                <a:srgbClr val="DFD2A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5"/>
          <p:cNvSpPr>
            <a:spLocks noChangeArrowheads="1"/>
          </p:cNvSpPr>
          <p:nvPr/>
        </p:nvSpPr>
        <p:spPr bwMode="auto">
          <a:xfrm>
            <a:off x="4505538" y="1505360"/>
            <a:ext cx="343778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调用者不会立刻得到结果，而是在被调用者处理完成后，才通知调用者结果</a:t>
            </a:r>
            <a:endParaRPr lang="en-US" altLang="zh-CN" sz="1200" dirty="0">
              <a:solidFill>
                <a:srgbClr val="DB291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先在银行取个号，然后可以做其他事儿，由银行通知你可以去办业务了</a:t>
            </a:r>
            <a:endParaRPr lang="en-US" altLang="zh-CN" sz="1200" dirty="0">
              <a:solidFill>
                <a:srgbClr val="DB2914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2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效率最高</a:t>
            </a:r>
            <a:endParaRPr lang="en-US" altLang="zh-CN" sz="1200" dirty="0">
              <a:solidFill>
                <a:srgbClr val="DB2914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4933" y="1072310"/>
            <a:ext cx="3449647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同步调用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493366" y="1072309"/>
            <a:ext cx="3449647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异步调用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16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系统亮点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设计简介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4934" y="1505360"/>
            <a:ext cx="3449648" cy="2354671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493366" y="1505360"/>
            <a:ext cx="3449647" cy="2354671"/>
          </a:xfrm>
          <a:prstGeom prst="rect">
            <a:avLst/>
          </a:prstGeom>
          <a:solidFill>
            <a:srgbClr val="DFD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5"/>
          <p:cNvSpPr>
            <a:spLocks noChangeArrowheads="1"/>
          </p:cNvSpPr>
          <p:nvPr/>
        </p:nvSpPr>
        <p:spPr bwMode="auto">
          <a:xfrm>
            <a:off x="604934" y="1505585"/>
            <a:ext cx="3449647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阻塞性语言：串行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银行只开一个窗口，只能有一个队伍排队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查询</a:t>
            </a:r>
            <a:r>
              <a:rPr lang="en-US" altLang="zh-CN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条不同</a:t>
            </a:r>
            <a:r>
              <a:rPr lang="en-US" altLang="zh-CN" sz="1400" dirty="0" err="1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语句所花时间：</a:t>
            </a:r>
            <a:r>
              <a:rPr lang="en-US" altLang="zh-CN" sz="1400" dirty="0">
                <a:solidFill>
                  <a:srgbClr val="DFD2A0"/>
                </a:solidFill>
                <a:latin typeface="微软雅黑" pitchFamily="34" charset="-122"/>
                <a:ea typeface="微软雅黑" pitchFamily="34" charset="-122"/>
              </a:rPr>
              <a:t>15*T</a:t>
            </a:r>
          </a:p>
        </p:txBody>
      </p:sp>
      <p:sp>
        <p:nvSpPr>
          <p:cNvPr id="21" name="矩形 5"/>
          <p:cNvSpPr>
            <a:spLocks noChangeArrowheads="1"/>
          </p:cNvSpPr>
          <p:nvPr/>
        </p:nvSpPr>
        <p:spPr bwMode="auto">
          <a:xfrm>
            <a:off x="4505538" y="1505360"/>
            <a:ext cx="3437781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en-US" altLang="zh-CN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Node.js</a:t>
            </a:r>
            <a:r>
              <a:rPr lang="zh-CN" altLang="en-US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：并行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银行开了好几个窗口，可以排成好几队</a:t>
            </a:r>
          </a:p>
          <a:p>
            <a:pPr marL="342900" indent="-342900"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查询</a:t>
            </a:r>
            <a:r>
              <a:rPr lang="en-US" altLang="zh-CN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条不同</a:t>
            </a:r>
            <a:r>
              <a:rPr lang="en-US" altLang="zh-CN" sz="1400" dirty="0" err="1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语句所花时间：</a:t>
            </a:r>
            <a:r>
              <a:rPr lang="en-US" altLang="zh-CN" sz="1400" dirty="0">
                <a:solidFill>
                  <a:srgbClr val="DB2914"/>
                </a:solidFill>
                <a:latin typeface="微软雅黑" pitchFamily="34" charset="-122"/>
                <a:ea typeface="微软雅黑" pitchFamily="34" charset="-122"/>
              </a:rPr>
              <a:t>Max(T)</a:t>
            </a:r>
          </a:p>
        </p:txBody>
      </p:sp>
      <p:sp>
        <p:nvSpPr>
          <p:cNvPr id="22" name="矩形 21"/>
          <p:cNvSpPr/>
          <p:nvPr/>
        </p:nvSpPr>
        <p:spPr>
          <a:xfrm>
            <a:off x="604933" y="1072310"/>
            <a:ext cx="3449647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非并发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493366" y="1072309"/>
            <a:ext cx="3449647" cy="432971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485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用户模块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注册登录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9"/>
          <p:cNvPicPr/>
          <p:nvPr/>
        </p:nvPicPr>
        <p:blipFill>
          <a:blip r:embed="rId2"/>
          <a:stretch>
            <a:fillRect/>
          </a:stretch>
        </p:blipFill>
        <p:spPr>
          <a:xfrm>
            <a:off x="1619672" y="898756"/>
            <a:ext cx="2204720" cy="316928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1086399"/>
            <a:ext cx="2870835" cy="290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7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用户模块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上传头像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57" y="915566"/>
            <a:ext cx="2548239" cy="251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304" y="908125"/>
            <a:ext cx="2555776" cy="252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908125"/>
            <a:ext cx="2577334" cy="2535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69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用户模块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个人信息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03598"/>
            <a:ext cx="2577334" cy="2535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1203598"/>
            <a:ext cx="2592288" cy="2549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219721"/>
            <a:ext cx="2509839" cy="242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62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视频模块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视频列表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87624" y="847320"/>
            <a:ext cx="1950526" cy="3262302"/>
          </a:xfrm>
          <a:prstGeom prst="rect">
            <a:avLst/>
          </a:prstGeom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558" y="847320"/>
            <a:ext cx="3242217" cy="319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6547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我的视频列表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198" y="1081232"/>
            <a:ext cx="3559423" cy="3566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66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视频上传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595" y="976519"/>
            <a:ext cx="3211402" cy="3170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76519"/>
            <a:ext cx="3206239" cy="3165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448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评论模块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2304" y="915566"/>
            <a:ext cx="2361992" cy="2724897"/>
          </a:xfrm>
          <a:prstGeom prst="rect">
            <a:avLst/>
          </a:prstGeom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058965"/>
            <a:ext cx="2664296" cy="2630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052512"/>
            <a:ext cx="2621272" cy="2587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46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04294"/>
            <a:ext cx="2664296" cy="576064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评论模块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302304" y="915566"/>
            <a:ext cx="2361992" cy="2724897"/>
          </a:xfrm>
          <a:prstGeom prst="rect">
            <a:avLst/>
          </a:prstGeom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995112"/>
            <a:ext cx="2664296" cy="263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995112"/>
            <a:ext cx="2736304" cy="270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系统展示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652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箭头连接符 32"/>
          <p:cNvCxnSpPr/>
          <p:nvPr/>
        </p:nvCxnSpPr>
        <p:spPr>
          <a:xfrm flipV="1">
            <a:off x="1145055" y="1743658"/>
            <a:ext cx="1698753" cy="1404156"/>
          </a:xfrm>
          <a:prstGeom prst="straightConnector1">
            <a:avLst/>
          </a:prstGeom>
          <a:ln w="28575">
            <a:solidFill>
              <a:srgbClr val="DB291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-36512" y="2210764"/>
            <a:ext cx="3093686" cy="3025282"/>
            <a:chOff x="686226" y="3090018"/>
            <a:chExt cx="3093686" cy="3025282"/>
          </a:xfrm>
        </p:grpSpPr>
        <p:sp>
          <p:nvSpPr>
            <p:cNvPr id="6" name="Arc 327"/>
            <p:cNvSpPr>
              <a:spLocks/>
            </p:cNvSpPr>
            <p:nvPr/>
          </p:nvSpPr>
          <p:spPr bwMode="auto">
            <a:xfrm>
              <a:off x="911888" y="3666081"/>
              <a:ext cx="2121126" cy="2121125"/>
            </a:xfrm>
            <a:custGeom>
              <a:avLst/>
              <a:gdLst>
                <a:gd name="T0" fmla="*/ 0 w 21600"/>
                <a:gd name="T1" fmla="*/ 0 h 21684"/>
                <a:gd name="T2" fmla="*/ 216 w 21600"/>
                <a:gd name="T3" fmla="*/ 215 h 21684"/>
                <a:gd name="T4" fmla="*/ 0 w 21600"/>
                <a:gd name="T5" fmla="*/ 214 h 2168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84"/>
                <a:gd name="T11" fmla="*/ 21600 w 21600"/>
                <a:gd name="T12" fmla="*/ 21684 h 216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8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</a:path>
                <a:path w="21600" h="2168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B2914"/>
            </a:solidFill>
            <a:ln w="38100">
              <a:solidFill>
                <a:schemeClr val="bg1">
                  <a:lumMod val="9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rc 328"/>
            <p:cNvSpPr>
              <a:spLocks/>
            </p:cNvSpPr>
            <p:nvPr/>
          </p:nvSpPr>
          <p:spPr bwMode="auto">
            <a:xfrm>
              <a:off x="911887" y="4359341"/>
              <a:ext cx="1427865" cy="1427865"/>
            </a:xfrm>
            <a:custGeom>
              <a:avLst/>
              <a:gdLst>
                <a:gd name="T0" fmla="*/ 0 w 21600"/>
                <a:gd name="T1" fmla="*/ 0 h 21684"/>
                <a:gd name="T2" fmla="*/ 96 w 21600"/>
                <a:gd name="T3" fmla="*/ 96 h 21684"/>
                <a:gd name="T4" fmla="*/ 0 w 21600"/>
                <a:gd name="T5" fmla="*/ 95 h 2168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84"/>
                <a:gd name="T11" fmla="*/ 21600 w 21600"/>
                <a:gd name="T12" fmla="*/ 21684 h 216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8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</a:path>
                <a:path w="21600" h="2168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FD2A0"/>
            </a:solidFill>
            <a:ln w="19050" cap="rnd">
              <a:solidFill>
                <a:srgbClr val="DFD2A0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Arc 329"/>
            <p:cNvSpPr>
              <a:spLocks/>
            </p:cNvSpPr>
            <p:nvPr/>
          </p:nvSpPr>
          <p:spPr bwMode="auto">
            <a:xfrm>
              <a:off x="911888" y="5037575"/>
              <a:ext cx="749632" cy="749631"/>
            </a:xfrm>
            <a:custGeom>
              <a:avLst/>
              <a:gdLst>
                <a:gd name="T0" fmla="*/ 0 w 21600"/>
                <a:gd name="T1" fmla="*/ 0 h 21684"/>
                <a:gd name="T2" fmla="*/ 24 w 21600"/>
                <a:gd name="T3" fmla="*/ 24 h 21684"/>
                <a:gd name="T4" fmla="*/ 0 w 21600"/>
                <a:gd name="T5" fmla="*/ 24 h 2168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84"/>
                <a:gd name="T11" fmla="*/ 21600 w 21600"/>
                <a:gd name="T12" fmla="*/ 21684 h 216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8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</a:path>
                <a:path w="21600" h="2168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27"/>
                    <a:pt x="21599" y="21655"/>
                    <a:pt x="21599" y="21683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2B2B29"/>
            </a:solidFill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WordArt 380"/>
            <p:cNvSpPr>
              <a:spLocks noChangeArrowheads="1" noChangeShapeType="1" noTextEdit="1"/>
            </p:cNvSpPr>
            <p:nvPr/>
          </p:nvSpPr>
          <p:spPr bwMode="auto">
            <a:xfrm rot="2832808">
              <a:off x="539364" y="4927890"/>
              <a:ext cx="1606471" cy="768350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2453780"/>
                </a:avLst>
              </a:prstTxWarp>
            </a:bodyPr>
            <a:lstStyle/>
            <a:p>
              <a:pPr algn="ctr"/>
              <a:endParaRPr lang="zh-CN" altLang="en-US" sz="700" kern="10" spc="-70" dirty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文鼎霹靂體" pitchFamily="49" charset="-12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911887" y="5805264"/>
              <a:ext cx="2868025" cy="0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903141" y="3090018"/>
              <a:ext cx="0" cy="2736401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839880" y="5713418"/>
              <a:ext cx="144016" cy="15715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WordArt 380"/>
            <p:cNvSpPr>
              <a:spLocks noChangeArrowheads="1" noChangeShapeType="1" noTextEdit="1"/>
            </p:cNvSpPr>
            <p:nvPr/>
          </p:nvSpPr>
          <p:spPr bwMode="auto">
            <a:xfrm rot="2337929">
              <a:off x="686226" y="5330198"/>
              <a:ext cx="746520" cy="768350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2983410"/>
                </a:avLst>
              </a:prstTxWarp>
            </a:bodyPr>
            <a:lstStyle/>
            <a:p>
              <a:pPr algn="ctr"/>
              <a:endParaRPr lang="zh-CN" altLang="en-US" sz="400" kern="10" spc="-70" dirty="0">
                <a:ln w="9525">
                  <a:noFill/>
                  <a:round/>
                  <a:headEnd/>
                  <a:tailEnd/>
                </a:ln>
                <a:solidFill>
                  <a:srgbClr val="2B2B29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16" name="WordArt 380"/>
            <p:cNvSpPr>
              <a:spLocks noChangeArrowheads="1" noChangeShapeType="1" noTextEdit="1"/>
            </p:cNvSpPr>
            <p:nvPr/>
          </p:nvSpPr>
          <p:spPr bwMode="auto">
            <a:xfrm rot="2681077">
              <a:off x="773725" y="4522608"/>
              <a:ext cx="2188136" cy="768350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1210249"/>
                </a:avLst>
              </a:prstTxWarp>
            </a:bodyPr>
            <a:lstStyle/>
            <a:p>
              <a:pPr algn="ctr"/>
              <a:endParaRPr lang="zh-CN" altLang="en-US" sz="1200" b="1" kern="10" spc="-70" dirty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3202360" y="965657"/>
            <a:ext cx="4248472" cy="79208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Node.js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 适合高并发的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endParaRPr lang="en-US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202360" y="2008826"/>
            <a:ext cx="4248472" cy="79208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  <a:buFont typeface="Arial" pitchFamily="34" charset="0"/>
              <a:buNone/>
            </a:pP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Node.js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的异步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可以高效的利用系统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资源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02360" y="3068916"/>
            <a:ext cx="4248472" cy="79208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前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后端都使用</a:t>
            </a:r>
            <a:r>
              <a:rPr lang="en-US" altLang="zh-CN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JS,</a:t>
            </a:r>
            <a:r>
              <a: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明显提高开发效率和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速度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1145055" y="2786828"/>
            <a:ext cx="1770761" cy="1153074"/>
          </a:xfrm>
          <a:prstGeom prst="straightConnector1">
            <a:avLst/>
          </a:prstGeom>
          <a:ln w="28575">
            <a:solidFill>
              <a:srgbClr val="DFD2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619861" y="3847389"/>
            <a:ext cx="2295955" cy="871276"/>
          </a:xfrm>
          <a:prstGeom prst="straightConnector1">
            <a:avLst/>
          </a:prstGeom>
          <a:ln w="28575">
            <a:solidFill>
              <a:srgbClr val="2B2B2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E:\PPT\0。图片\PNG\2、win7风格\灰色超全扁平化图标\4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548" y="2245747"/>
            <a:ext cx="385503" cy="38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E:\PPT\0。图片\PNG\2、win7风格\灰色超全扁平化图标\42.png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062" y="1177088"/>
            <a:ext cx="362698" cy="36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:\PPT\0。图片\PNG\2、win7风格\灰色超全扁平化图标\43.png"/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57" y="3282337"/>
            <a:ext cx="391148" cy="39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40"/>
          <p:cNvSpPr/>
          <p:nvPr/>
        </p:nvSpPr>
        <p:spPr>
          <a:xfrm>
            <a:off x="3850432" y="1107376"/>
            <a:ext cx="45719" cy="508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850432" y="2170210"/>
            <a:ext cx="45719" cy="508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850432" y="3215797"/>
            <a:ext cx="45719" cy="508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316416" y="1086399"/>
            <a:ext cx="827584" cy="3060700"/>
          </a:xfrm>
          <a:prstGeom prst="rect">
            <a:avLst/>
          </a:prstGeom>
          <a:solidFill>
            <a:srgbClr val="DB2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研究结论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203104" y="4155077"/>
            <a:ext cx="4248472" cy="792088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Picture 2" descr="E:\PPT\0。图片\PNG\2、win7风格\灰色超全扁平化图标\41.png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292" y="4391998"/>
            <a:ext cx="385503" cy="38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矩形 37"/>
          <p:cNvSpPr/>
          <p:nvPr/>
        </p:nvSpPr>
        <p:spPr>
          <a:xfrm>
            <a:off x="3851176" y="4316461"/>
            <a:ext cx="45719" cy="5086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851920" y="4458593"/>
            <a:ext cx="4572000" cy="3366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开发</a:t>
            </a:r>
            <a:r>
              <a:rPr lang="zh-CN" altLang="en-US" sz="1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的过程中需要利用学过的知识不断的优化应用</a:t>
            </a:r>
            <a:endParaRPr lang="en-US" altLang="zh-CN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2992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0" y="771497"/>
            <a:ext cx="3747541" cy="7014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7" name="TextBox 7"/>
          <p:cNvSpPr txBox="1"/>
          <p:nvPr/>
        </p:nvSpPr>
        <p:spPr>
          <a:xfrm>
            <a:off x="440637" y="938066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 smtClean="0">
                <a:solidFill>
                  <a:srgbClr val="DFD2A0"/>
                </a:solidFill>
                <a:latin typeface="Broadway" pitchFamily="82" charset="0"/>
                <a:cs typeface="Calibri" pitchFamily="34" charset="0"/>
              </a:rPr>
              <a:t>THINKS</a:t>
            </a:r>
            <a:endParaRPr lang="en-US" sz="2000" dirty="0">
              <a:solidFill>
                <a:srgbClr val="DFD2A0"/>
              </a:solidFill>
              <a:latin typeface="Broadway" pitchFamily="82" charset="0"/>
              <a:cs typeface="Calibri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44216" y="1779662"/>
            <a:ext cx="6703852" cy="2130853"/>
          </a:xfrm>
          <a:prstGeom prst="rect">
            <a:avLst/>
          </a:prstGeom>
          <a:solidFill>
            <a:srgbClr val="2B2B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rgbClr val="DFD2A0"/>
                </a:solidFill>
                <a:latin typeface="Broadway" pitchFamily="82" charset="0"/>
                <a:cs typeface="Calibri" pitchFamily="34" charset="0"/>
              </a:rPr>
              <a:t>感谢各位指导</a:t>
            </a:r>
            <a:r>
              <a:rPr lang="zh-CN" altLang="en-US" sz="4400" b="1" dirty="0" smtClean="0">
                <a:solidFill>
                  <a:srgbClr val="DFD2A0"/>
                </a:solidFill>
                <a:latin typeface="Broadway" pitchFamily="82" charset="0"/>
                <a:cs typeface="Calibri" pitchFamily="34" charset="0"/>
              </a:rPr>
              <a:t>老师</a:t>
            </a:r>
            <a:r>
              <a:rPr lang="en-US" altLang="zh-CN" sz="4400" b="1" dirty="0" smtClean="0">
                <a:solidFill>
                  <a:srgbClr val="DFD2A0"/>
                </a:solidFill>
                <a:latin typeface="Broadway" pitchFamily="82" charset="0"/>
                <a:cs typeface="Calibri" pitchFamily="34" charset="0"/>
              </a:rPr>
              <a:t>!</a:t>
            </a:r>
            <a:endParaRPr lang="en-US" altLang="zh-CN" sz="4400" b="1" dirty="0">
              <a:solidFill>
                <a:srgbClr val="DFD2A0"/>
              </a:solidFill>
              <a:latin typeface="Broadway" pitchFamily="82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95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528</Words>
  <Application>Microsoft Office PowerPoint</Application>
  <PresentationFormat>全屏显示(16:9)</PresentationFormat>
  <Paragraphs>185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Times New Roman</vt:lpstr>
      <vt:lpstr>文鼎霹靂體</vt:lpstr>
      <vt:lpstr>Broadway</vt:lpstr>
      <vt:lpstr>微软雅黑</vt:lpstr>
      <vt:lpstr>Adobe 黑体 Std R</vt:lpstr>
      <vt:lpstr>Calibri</vt:lpstr>
      <vt:lpstr>Malgun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白琦</cp:lastModifiedBy>
  <cp:revision>70</cp:revision>
  <dcterms:created xsi:type="dcterms:W3CDTF">2013-10-01T02:55:54Z</dcterms:created>
  <dcterms:modified xsi:type="dcterms:W3CDTF">2018-05-19T19:47:59Z</dcterms:modified>
</cp:coreProperties>
</file>